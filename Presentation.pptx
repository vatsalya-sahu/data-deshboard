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257" r:id="rId6"/>
    <p:sldId id="286" r:id="rId7"/>
    <p:sldId id="299" r:id="rId8"/>
    <p:sldId id="301" r:id="rId9"/>
    <p:sldId id="288" r:id="rId10"/>
    <p:sldId id="289" r:id="rId11"/>
    <p:sldId id="291" r:id="rId12"/>
    <p:sldId id="290" r:id="rId13"/>
    <p:sldId id="292" r:id="rId14"/>
    <p:sldId id="295" r:id="rId15"/>
    <p:sldId id="298" r:id="rId16"/>
    <p:sldId id="302" r:id="rId17"/>
    <p:sldId id="294" r:id="rId18"/>
    <p:sldId id="29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A94309-B416-4B3E-821A-66A8CD39785E}" v="117" dt="2025-09-17T17:12:08.228"/>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79" d="100"/>
          <a:sy n="79" d="100"/>
        </p:scale>
        <p:origin x="850"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FI 29" userId="a4615861a745328d" providerId="LiveId" clId="{973A3D64-73B1-4A08-AB8B-FC857A050492}"/>
    <pc:docChg chg="undo custSel addSld delSld modSld sldOrd">
      <pc:chgData name="GRAFFI 29" userId="a4615861a745328d" providerId="LiveId" clId="{973A3D64-73B1-4A08-AB8B-FC857A050492}" dt="2025-09-17T17:13:25.216" v="438" actId="1076"/>
      <pc:docMkLst>
        <pc:docMk/>
      </pc:docMkLst>
      <pc:sldChg chg="delSp modSp mod">
        <pc:chgData name="GRAFFI 29" userId="a4615861a745328d" providerId="LiveId" clId="{973A3D64-73B1-4A08-AB8B-FC857A050492}" dt="2025-09-17T17:13:25.216" v="438" actId="1076"/>
        <pc:sldMkLst>
          <pc:docMk/>
          <pc:sldMk cId="2259308896" sldId="256"/>
        </pc:sldMkLst>
        <pc:spChg chg="mod">
          <ac:chgData name="GRAFFI 29" userId="a4615861a745328d" providerId="LiveId" clId="{973A3D64-73B1-4A08-AB8B-FC857A050492}" dt="2025-09-17T17:13:25.216" v="438" actId="1076"/>
          <ac:spMkLst>
            <pc:docMk/>
            <pc:sldMk cId="2259308896" sldId="256"/>
            <ac:spMk id="3" creationId="{7C7045C6-F2D5-4D2C-D1C7-0B8674620B84}"/>
          </ac:spMkLst>
        </pc:spChg>
        <pc:spChg chg="mod">
          <ac:chgData name="GRAFFI 29" userId="a4615861a745328d" providerId="LiveId" clId="{973A3D64-73B1-4A08-AB8B-FC857A050492}" dt="2025-09-17T17:12:43.799" v="435" actId="1076"/>
          <ac:spMkLst>
            <pc:docMk/>
            <pc:sldMk cId="2259308896" sldId="256"/>
            <ac:spMk id="7" creationId="{D90F62F1-A235-3668-209D-FB7C2770F220}"/>
          </ac:spMkLst>
        </pc:spChg>
        <pc:spChg chg="del">
          <ac:chgData name="GRAFFI 29" userId="a4615861a745328d" providerId="LiveId" clId="{973A3D64-73B1-4A08-AB8B-FC857A050492}" dt="2025-09-17T17:12:11.444" v="426" actId="21"/>
          <ac:spMkLst>
            <pc:docMk/>
            <pc:sldMk cId="2259308896" sldId="256"/>
            <ac:spMk id="9" creationId="{D8709D2F-3B70-8CEA-6FEA-E6F48B7CF1F5}"/>
          </ac:spMkLst>
        </pc:spChg>
        <pc:spChg chg="mod">
          <ac:chgData name="GRAFFI 29" userId="a4615861a745328d" providerId="LiveId" clId="{973A3D64-73B1-4A08-AB8B-FC857A050492}" dt="2025-09-17T17:12:51.278" v="437" actId="20577"/>
          <ac:spMkLst>
            <pc:docMk/>
            <pc:sldMk cId="2259308896" sldId="256"/>
            <ac:spMk id="11" creationId="{A3E5169E-10AB-6E00-427E-A47B8B32411E}"/>
          </ac:spMkLst>
        </pc:spChg>
        <pc:spChg chg="mod">
          <ac:chgData name="GRAFFI 29" userId="a4615861a745328d" providerId="LiveId" clId="{973A3D64-73B1-4A08-AB8B-FC857A050492}" dt="2025-09-17T17:11:39.146" v="408" actId="1076"/>
          <ac:spMkLst>
            <pc:docMk/>
            <pc:sldMk cId="2259308896" sldId="256"/>
            <ac:spMk id="13" creationId="{7FD115E7-2022-32EB-C0F5-B02673DFFB5F}"/>
          </ac:spMkLst>
        </pc:spChg>
      </pc:sldChg>
      <pc:sldChg chg="addSp modSp mod">
        <pc:chgData name="GRAFFI 29" userId="a4615861a745328d" providerId="LiveId" clId="{973A3D64-73B1-4A08-AB8B-FC857A050492}" dt="2025-09-17T16:37:40.177" v="77" actId="1076"/>
        <pc:sldMkLst>
          <pc:docMk/>
          <pc:sldMk cId="1325608595" sldId="257"/>
        </pc:sldMkLst>
        <pc:picChg chg="add mod modCrop">
          <ac:chgData name="GRAFFI 29" userId="a4615861a745328d" providerId="LiveId" clId="{973A3D64-73B1-4A08-AB8B-FC857A050492}" dt="2025-09-17T16:37:40.177" v="77" actId="1076"/>
          <ac:picMkLst>
            <pc:docMk/>
            <pc:sldMk cId="1325608595" sldId="257"/>
            <ac:picMk id="10" creationId="{3B2A8633-09B4-1612-49E9-FD3000573AEE}"/>
          </ac:picMkLst>
        </pc:picChg>
      </pc:sldChg>
      <pc:sldChg chg="addSp delSp modSp mod">
        <pc:chgData name="GRAFFI 29" userId="a4615861a745328d" providerId="LiveId" clId="{973A3D64-73B1-4A08-AB8B-FC857A050492}" dt="2025-09-17T16:34:47.647" v="63" actId="14100"/>
        <pc:sldMkLst>
          <pc:docMk/>
          <pc:sldMk cId="779750606" sldId="288"/>
        </pc:sldMkLst>
        <pc:spChg chg="mod">
          <ac:chgData name="GRAFFI 29" userId="a4615861a745328d" providerId="LiveId" clId="{973A3D64-73B1-4A08-AB8B-FC857A050492}" dt="2025-09-17T16:31:24.534" v="48" actId="14100"/>
          <ac:spMkLst>
            <pc:docMk/>
            <pc:sldMk cId="779750606" sldId="288"/>
            <ac:spMk id="11" creationId="{C519CAD8-3B8F-1DF2-2DA0-EB910C159731}"/>
          </ac:spMkLst>
        </pc:spChg>
        <pc:picChg chg="add del mod">
          <ac:chgData name="GRAFFI 29" userId="a4615861a745328d" providerId="LiveId" clId="{973A3D64-73B1-4A08-AB8B-FC857A050492}" dt="2025-09-17T16:31:34.493" v="49" actId="21"/>
          <ac:picMkLst>
            <pc:docMk/>
            <pc:sldMk cId="779750606" sldId="288"/>
            <ac:picMk id="13" creationId="{6E8C951E-0DD0-A330-A12F-0A2D5753B26B}"/>
          </ac:picMkLst>
        </pc:picChg>
        <pc:picChg chg="add del">
          <ac:chgData name="GRAFFI 29" userId="a4615861a745328d" providerId="LiveId" clId="{973A3D64-73B1-4A08-AB8B-FC857A050492}" dt="2025-09-17T16:33:41.332" v="52" actId="21"/>
          <ac:picMkLst>
            <pc:docMk/>
            <pc:sldMk cId="779750606" sldId="288"/>
            <ac:picMk id="14" creationId="{A9FDD625-8D5D-FC26-6BCF-51FBDC5FEC85}"/>
          </ac:picMkLst>
        </pc:picChg>
        <pc:picChg chg="add del mod">
          <ac:chgData name="GRAFFI 29" userId="a4615861a745328d" providerId="LiveId" clId="{973A3D64-73B1-4A08-AB8B-FC857A050492}" dt="2025-09-17T16:34:04.381" v="54" actId="21"/>
          <ac:picMkLst>
            <pc:docMk/>
            <pc:sldMk cId="779750606" sldId="288"/>
            <ac:picMk id="16" creationId="{25CD9661-4AA6-5002-F457-C9FAC6A1B384}"/>
          </ac:picMkLst>
        </pc:picChg>
        <pc:picChg chg="add mod">
          <ac:chgData name="GRAFFI 29" userId="a4615861a745328d" providerId="LiveId" clId="{973A3D64-73B1-4A08-AB8B-FC857A050492}" dt="2025-09-17T16:34:47.647" v="63" actId="14100"/>
          <ac:picMkLst>
            <pc:docMk/>
            <pc:sldMk cId="779750606" sldId="288"/>
            <ac:picMk id="19" creationId="{43D62F5E-E0A0-736F-0ED4-133EC776498F}"/>
          </ac:picMkLst>
        </pc:picChg>
      </pc:sldChg>
      <pc:sldChg chg="modSp mod">
        <pc:chgData name="GRAFFI 29" userId="a4615861a745328d" providerId="LiveId" clId="{973A3D64-73B1-4A08-AB8B-FC857A050492}" dt="2025-09-17T16:30:13.696" v="42" actId="12"/>
        <pc:sldMkLst>
          <pc:docMk/>
          <pc:sldMk cId="362649583" sldId="292"/>
        </pc:sldMkLst>
        <pc:spChg chg="mod">
          <ac:chgData name="GRAFFI 29" userId="a4615861a745328d" providerId="LiveId" clId="{973A3D64-73B1-4A08-AB8B-FC857A050492}" dt="2025-09-17T16:30:07.726" v="41" actId="11"/>
          <ac:spMkLst>
            <pc:docMk/>
            <pc:sldMk cId="362649583" sldId="292"/>
            <ac:spMk id="12" creationId="{0D599394-56B6-A569-89EE-85B43EB6D88E}"/>
          </ac:spMkLst>
        </pc:spChg>
        <pc:spChg chg="mod">
          <ac:chgData name="GRAFFI 29" userId="a4615861a745328d" providerId="LiveId" clId="{973A3D64-73B1-4A08-AB8B-FC857A050492}" dt="2025-09-17T16:30:13.696" v="42" actId="12"/>
          <ac:spMkLst>
            <pc:docMk/>
            <pc:sldMk cId="362649583" sldId="292"/>
            <ac:spMk id="14" creationId="{16D0D772-8770-C6EA-4532-278736DE824E}"/>
          </ac:spMkLst>
        </pc:spChg>
      </pc:sldChg>
      <pc:sldChg chg="addSp delSp modSp mod">
        <pc:chgData name="GRAFFI 29" userId="a4615861a745328d" providerId="LiveId" clId="{973A3D64-73B1-4A08-AB8B-FC857A050492}" dt="2025-09-17T17:09:46.692" v="381" actId="20577"/>
        <pc:sldMkLst>
          <pc:docMk/>
          <pc:sldMk cId="853261029" sldId="294"/>
        </pc:sldMkLst>
        <pc:spChg chg="del mod">
          <ac:chgData name="GRAFFI 29" userId="a4615861a745328d" providerId="LiveId" clId="{973A3D64-73B1-4A08-AB8B-FC857A050492}" dt="2025-09-17T16:55:25.355" v="206" actId="21"/>
          <ac:spMkLst>
            <pc:docMk/>
            <pc:sldMk cId="853261029" sldId="294"/>
            <ac:spMk id="2" creationId="{97DC00FF-6B42-7D84-7831-AACC4E189E93}"/>
          </ac:spMkLst>
        </pc:spChg>
        <pc:spChg chg="del mod">
          <ac:chgData name="GRAFFI 29" userId="a4615861a745328d" providerId="LiveId" clId="{973A3D64-73B1-4A08-AB8B-FC857A050492}" dt="2025-09-17T16:55:19.277" v="205" actId="21"/>
          <ac:spMkLst>
            <pc:docMk/>
            <pc:sldMk cId="853261029" sldId="294"/>
            <ac:spMk id="4" creationId="{DE5C7B5A-A5C3-15D4-DF71-B692D28942FC}"/>
          </ac:spMkLst>
        </pc:spChg>
        <pc:spChg chg="add del mod">
          <ac:chgData name="GRAFFI 29" userId="a4615861a745328d" providerId="LiveId" clId="{973A3D64-73B1-4A08-AB8B-FC857A050492}" dt="2025-09-17T16:33:09.356" v="50"/>
          <ac:spMkLst>
            <pc:docMk/>
            <pc:sldMk cId="853261029" sldId="294"/>
            <ac:spMk id="5" creationId="{079DA757-4246-CC07-680A-7C04B43F27B8}"/>
          </ac:spMkLst>
        </pc:spChg>
        <pc:spChg chg="del">
          <ac:chgData name="GRAFFI 29" userId="a4615861a745328d" providerId="LiveId" clId="{973A3D64-73B1-4A08-AB8B-FC857A050492}" dt="2025-09-17T16:31:04.457" v="44" actId="21"/>
          <ac:spMkLst>
            <pc:docMk/>
            <pc:sldMk cId="853261029" sldId="294"/>
            <ac:spMk id="7" creationId="{CC7FC500-BBFB-3AA4-BEDE-038CB94FFF61}"/>
          </ac:spMkLst>
        </pc:spChg>
        <pc:spChg chg="add del mod">
          <ac:chgData name="GRAFFI 29" userId="a4615861a745328d" providerId="LiveId" clId="{973A3D64-73B1-4A08-AB8B-FC857A050492}" dt="2025-09-17T16:55:07.674" v="202" actId="21"/>
          <ac:spMkLst>
            <pc:docMk/>
            <pc:sldMk cId="853261029" sldId="294"/>
            <ac:spMk id="10" creationId="{32433935-FD6E-B40D-456F-F7437C1E1762}"/>
          </ac:spMkLst>
        </pc:spChg>
        <pc:spChg chg="add del mod">
          <ac:chgData name="GRAFFI 29" userId="a4615861a745328d" providerId="LiveId" clId="{973A3D64-73B1-4A08-AB8B-FC857A050492}" dt="2025-09-17T16:56:18.374" v="209"/>
          <ac:spMkLst>
            <pc:docMk/>
            <pc:sldMk cId="853261029" sldId="294"/>
            <ac:spMk id="11" creationId="{1E21BB37-C9CD-A586-BB3C-1941E5544951}"/>
          </ac:spMkLst>
        </pc:spChg>
        <pc:spChg chg="add mod">
          <ac:chgData name="GRAFFI 29" userId="a4615861a745328d" providerId="LiveId" clId="{973A3D64-73B1-4A08-AB8B-FC857A050492}" dt="2025-09-17T16:59:42.217" v="231" actId="1076"/>
          <ac:spMkLst>
            <pc:docMk/>
            <pc:sldMk cId="853261029" sldId="294"/>
            <ac:spMk id="12" creationId="{DA38BF61-9BB2-8D4E-DF21-909771C6AB9F}"/>
          </ac:spMkLst>
        </pc:spChg>
        <pc:spChg chg="add del mod">
          <ac:chgData name="GRAFFI 29" userId="a4615861a745328d" providerId="LiveId" clId="{973A3D64-73B1-4A08-AB8B-FC857A050492}" dt="2025-09-17T17:02:12.202" v="234"/>
          <ac:spMkLst>
            <pc:docMk/>
            <pc:sldMk cId="853261029" sldId="294"/>
            <ac:spMk id="13" creationId="{F4467185-5EA5-DF9B-C989-3A8C828B20F7}"/>
          </ac:spMkLst>
        </pc:spChg>
        <pc:spChg chg="add mod">
          <ac:chgData name="GRAFFI 29" userId="a4615861a745328d" providerId="LiveId" clId="{973A3D64-73B1-4A08-AB8B-FC857A050492}" dt="2025-09-17T17:09:46.692" v="381" actId="20577"/>
          <ac:spMkLst>
            <pc:docMk/>
            <pc:sldMk cId="853261029" sldId="294"/>
            <ac:spMk id="15" creationId="{669CFD50-3E97-B6A6-6BE6-D9D59C0D898F}"/>
          </ac:spMkLst>
        </pc:spChg>
        <pc:picChg chg="add del mod">
          <ac:chgData name="GRAFFI 29" userId="a4615861a745328d" providerId="LiveId" clId="{973A3D64-73B1-4A08-AB8B-FC857A050492}" dt="2025-09-17T16:54:52.843" v="201" actId="21"/>
          <ac:picMkLst>
            <pc:docMk/>
            <pc:sldMk cId="853261029" sldId="294"/>
            <ac:picMk id="8" creationId="{59361FA6-C378-09AE-D967-6464963774CB}"/>
          </ac:picMkLst>
        </pc:picChg>
      </pc:sldChg>
      <pc:sldChg chg="addSp delSp modSp mod">
        <pc:chgData name="GRAFFI 29" userId="a4615861a745328d" providerId="LiveId" clId="{973A3D64-73B1-4A08-AB8B-FC857A050492}" dt="2025-09-17T16:29:51.614" v="40" actId="12"/>
        <pc:sldMkLst>
          <pc:docMk/>
          <pc:sldMk cId="907915534" sldId="295"/>
        </pc:sldMkLst>
        <pc:spChg chg="mod">
          <ac:chgData name="GRAFFI 29" userId="a4615861a745328d" providerId="LiveId" clId="{973A3D64-73B1-4A08-AB8B-FC857A050492}" dt="2025-09-17T16:28:45.866" v="7" actId="122"/>
          <ac:spMkLst>
            <pc:docMk/>
            <pc:sldMk cId="907915534" sldId="295"/>
            <ac:spMk id="2" creationId="{6FE02FA0-5805-E9D5-E5A1-5B4B485CB096}"/>
          </ac:spMkLst>
        </pc:spChg>
        <pc:spChg chg="add del mod">
          <ac:chgData name="GRAFFI 29" userId="a4615861a745328d" providerId="LiveId" clId="{973A3D64-73B1-4A08-AB8B-FC857A050492}" dt="2025-09-17T16:28:36.966" v="5" actId="21"/>
          <ac:spMkLst>
            <pc:docMk/>
            <pc:sldMk cId="907915534" sldId="295"/>
            <ac:spMk id="12" creationId="{C7A8B68E-975C-51A6-DE63-5DC674CAD904}"/>
          </ac:spMkLst>
        </pc:spChg>
        <pc:spChg chg="add del mod">
          <ac:chgData name="GRAFFI 29" userId="a4615861a745328d" providerId="LiveId" clId="{973A3D64-73B1-4A08-AB8B-FC857A050492}" dt="2025-09-17T16:29:51.614" v="40" actId="12"/>
          <ac:spMkLst>
            <pc:docMk/>
            <pc:sldMk cId="907915534" sldId="295"/>
            <ac:spMk id="13" creationId="{CA7405AB-E799-B207-8296-AA7845285F08}"/>
          </ac:spMkLst>
        </pc:spChg>
      </pc:sldChg>
      <pc:sldChg chg="addSp delSp modSp mod">
        <pc:chgData name="GRAFFI 29" userId="a4615861a745328d" providerId="LiveId" clId="{973A3D64-73B1-4A08-AB8B-FC857A050492}" dt="2025-09-17T17:10:35.003" v="395" actId="21"/>
        <pc:sldMkLst>
          <pc:docMk/>
          <pc:sldMk cId="1609673525" sldId="296"/>
        </pc:sldMkLst>
        <pc:spChg chg="add del mod">
          <ac:chgData name="GRAFFI 29" userId="a4615861a745328d" providerId="LiveId" clId="{973A3D64-73B1-4A08-AB8B-FC857A050492}" dt="2025-09-17T17:10:32.116" v="394" actId="21"/>
          <ac:spMkLst>
            <pc:docMk/>
            <pc:sldMk cId="1609673525" sldId="296"/>
            <ac:spMk id="3" creationId="{BC2984D0-61EE-3343-99B8-955FB01A9931}"/>
          </ac:spMkLst>
        </pc:spChg>
        <pc:spChg chg="del mod">
          <ac:chgData name="GRAFFI 29" userId="a4615861a745328d" providerId="LiveId" clId="{973A3D64-73B1-4A08-AB8B-FC857A050492}" dt="2025-09-17T17:10:20.059" v="389" actId="21"/>
          <ac:spMkLst>
            <pc:docMk/>
            <pc:sldMk cId="1609673525" sldId="296"/>
            <ac:spMk id="5" creationId="{67BB04B7-47A4-741B-59E0-F0E6F2126E8F}"/>
          </ac:spMkLst>
        </pc:spChg>
        <pc:spChg chg="add del mod">
          <ac:chgData name="GRAFFI 29" userId="a4615861a745328d" providerId="LiveId" clId="{973A3D64-73B1-4A08-AB8B-FC857A050492}" dt="2025-09-17T17:10:35.003" v="395" actId="21"/>
          <ac:spMkLst>
            <pc:docMk/>
            <pc:sldMk cId="1609673525" sldId="296"/>
            <ac:spMk id="6" creationId="{71E1AAB7-6B9D-FD6B-4CB1-324C46DAD445}"/>
          </ac:spMkLst>
        </pc:spChg>
        <pc:spChg chg="mod">
          <ac:chgData name="GRAFFI 29" userId="a4615861a745328d" providerId="LiveId" clId="{973A3D64-73B1-4A08-AB8B-FC857A050492}" dt="2025-09-17T17:10:09.259" v="382" actId="255"/>
          <ac:spMkLst>
            <pc:docMk/>
            <pc:sldMk cId="1609673525" sldId="296"/>
            <ac:spMk id="7" creationId="{81C753FD-96EC-101A-B8A4-5F69A189BEF4}"/>
          </ac:spMkLst>
        </pc:spChg>
      </pc:sldChg>
      <pc:sldChg chg="addSp delSp modSp mod ord">
        <pc:chgData name="GRAFFI 29" userId="a4615861a745328d" providerId="LiveId" clId="{973A3D64-73B1-4A08-AB8B-FC857A050492}" dt="2025-09-17T16:54:24.609" v="195" actId="20577"/>
        <pc:sldMkLst>
          <pc:docMk/>
          <pc:sldMk cId="1678163377" sldId="298"/>
        </pc:sldMkLst>
        <pc:spChg chg="mod">
          <ac:chgData name="GRAFFI 29" userId="a4615861a745328d" providerId="LiveId" clId="{973A3D64-73B1-4A08-AB8B-FC857A050492}" dt="2025-09-17T16:47:23.629" v="134" actId="20577"/>
          <ac:spMkLst>
            <pc:docMk/>
            <pc:sldMk cId="1678163377" sldId="298"/>
            <ac:spMk id="2" creationId="{CB00786E-306F-FA21-4F87-81A032C68696}"/>
          </ac:spMkLst>
        </pc:spChg>
        <pc:spChg chg="add del mod">
          <ac:chgData name="GRAFFI 29" userId="a4615861a745328d" providerId="LiveId" clId="{973A3D64-73B1-4A08-AB8B-FC857A050492}" dt="2025-09-17T16:39:02.343" v="85" actId="21"/>
          <ac:spMkLst>
            <pc:docMk/>
            <pc:sldMk cId="1678163377" sldId="298"/>
            <ac:spMk id="5" creationId="{6F0850E9-85CE-DB44-28D8-F9059406EC9B}"/>
          </ac:spMkLst>
        </pc:spChg>
        <pc:spChg chg="add mod">
          <ac:chgData name="GRAFFI 29" userId="a4615861a745328d" providerId="LiveId" clId="{973A3D64-73B1-4A08-AB8B-FC857A050492}" dt="2025-09-17T16:54:24.609" v="195" actId="20577"/>
          <ac:spMkLst>
            <pc:docMk/>
            <pc:sldMk cId="1678163377" sldId="298"/>
            <ac:spMk id="6" creationId="{3B13BC0E-AB2C-2478-BCE2-5E1BC190814F}"/>
          </ac:spMkLst>
        </pc:spChg>
        <pc:spChg chg="add del mod">
          <ac:chgData name="GRAFFI 29" userId="a4615861a745328d" providerId="LiveId" clId="{973A3D64-73B1-4A08-AB8B-FC857A050492}" dt="2025-09-17T16:47:09.476" v="130" actId="21"/>
          <ac:spMkLst>
            <pc:docMk/>
            <pc:sldMk cId="1678163377" sldId="298"/>
            <ac:spMk id="7" creationId="{68960DA1-1E0A-9903-DFD0-31D5AD9BEE40}"/>
          </ac:spMkLst>
        </pc:spChg>
        <pc:spChg chg="add">
          <ac:chgData name="GRAFFI 29" userId="a4615861a745328d" providerId="LiveId" clId="{973A3D64-73B1-4A08-AB8B-FC857A050492}" dt="2025-09-17T16:42:51.994" v="108"/>
          <ac:spMkLst>
            <pc:docMk/>
            <pc:sldMk cId="1678163377" sldId="298"/>
            <ac:spMk id="8" creationId="{343FEBEB-B51A-ABD5-571D-C71CA93FFD97}"/>
          </ac:spMkLst>
        </pc:spChg>
        <pc:spChg chg="add del mod">
          <ac:chgData name="GRAFFI 29" userId="a4615861a745328d" providerId="LiveId" clId="{973A3D64-73B1-4A08-AB8B-FC857A050492}" dt="2025-09-17T16:44:10.611" v="121" actId="21"/>
          <ac:spMkLst>
            <pc:docMk/>
            <pc:sldMk cId="1678163377" sldId="298"/>
            <ac:spMk id="9" creationId="{C533BFA7-7E92-4BBD-4D07-85C934E5F133}"/>
          </ac:spMkLst>
        </pc:spChg>
        <pc:spChg chg="add mod">
          <ac:chgData name="GRAFFI 29" userId="a4615861a745328d" providerId="LiveId" clId="{973A3D64-73B1-4A08-AB8B-FC857A050492}" dt="2025-09-17T16:47:12.829" v="131"/>
          <ac:spMkLst>
            <pc:docMk/>
            <pc:sldMk cId="1678163377" sldId="298"/>
            <ac:spMk id="10" creationId="{68960DA1-1E0A-9903-DFD0-31D5AD9BEE40}"/>
          </ac:spMkLst>
        </pc:spChg>
        <pc:graphicFrameChg chg="del">
          <ac:chgData name="GRAFFI 29" userId="a4615861a745328d" providerId="LiveId" clId="{973A3D64-73B1-4A08-AB8B-FC857A050492}" dt="2025-09-17T16:38:58.506" v="84" actId="21"/>
          <ac:graphicFrameMkLst>
            <pc:docMk/>
            <pc:sldMk cId="1678163377" sldId="298"/>
            <ac:graphicFrameMk id="4" creationId="{E45D850A-4F58-6F54-953E-5ADC96B2EEB5}"/>
          </ac:graphicFrameMkLst>
        </pc:graphicFrameChg>
      </pc:sldChg>
      <pc:sldChg chg="addSp delSp modSp new mod ord">
        <pc:chgData name="GRAFFI 29" userId="a4615861a745328d" providerId="LiveId" clId="{973A3D64-73B1-4A08-AB8B-FC857A050492}" dt="2025-09-17T16:58:55.867" v="225" actId="1076"/>
        <pc:sldMkLst>
          <pc:docMk/>
          <pc:sldMk cId="2837283845" sldId="302"/>
        </pc:sldMkLst>
        <pc:spChg chg="mod">
          <ac:chgData name="GRAFFI 29" userId="a4615861a745328d" providerId="LiveId" clId="{973A3D64-73B1-4A08-AB8B-FC857A050492}" dt="2025-09-17T16:56:32.006" v="211" actId="1076"/>
          <ac:spMkLst>
            <pc:docMk/>
            <pc:sldMk cId="2837283845" sldId="302"/>
            <ac:spMk id="2" creationId="{A81BC9C1-89CA-5244-A322-4D1377B2E7FF}"/>
          </ac:spMkLst>
        </pc:spChg>
        <pc:spChg chg="del">
          <ac:chgData name="GRAFFI 29" userId="a4615861a745328d" providerId="LiveId" clId="{973A3D64-73B1-4A08-AB8B-FC857A050492}" dt="2025-09-17T16:48:25.886" v="148" actId="21"/>
          <ac:spMkLst>
            <pc:docMk/>
            <pc:sldMk cId="2837283845" sldId="302"/>
            <ac:spMk id="3" creationId="{C2B268DE-1B47-A7A3-081F-B6F63C736444}"/>
          </ac:spMkLst>
        </pc:spChg>
        <pc:spChg chg="del">
          <ac:chgData name="GRAFFI 29" userId="a4615861a745328d" providerId="LiveId" clId="{973A3D64-73B1-4A08-AB8B-FC857A050492}" dt="2025-09-17T16:48:28.663" v="149" actId="21"/>
          <ac:spMkLst>
            <pc:docMk/>
            <pc:sldMk cId="2837283845" sldId="302"/>
            <ac:spMk id="4" creationId="{C672D8CA-99B6-8155-8DF9-C8ADEB8ED19F}"/>
          </ac:spMkLst>
        </pc:spChg>
        <pc:spChg chg="add del mod">
          <ac:chgData name="GRAFFI 29" userId="a4615861a745328d" providerId="LiveId" clId="{973A3D64-73B1-4A08-AB8B-FC857A050492}" dt="2025-09-17T16:53:04.299" v="173"/>
          <ac:spMkLst>
            <pc:docMk/>
            <pc:sldMk cId="2837283845" sldId="302"/>
            <ac:spMk id="5" creationId="{6AD465F6-7915-7A24-B373-08A49EF94981}"/>
          </ac:spMkLst>
        </pc:spChg>
        <pc:spChg chg="add del mod">
          <ac:chgData name="GRAFFI 29" userId="a4615861a745328d" providerId="LiveId" clId="{973A3D64-73B1-4A08-AB8B-FC857A050492}" dt="2025-09-17T16:53:04.300" v="175"/>
          <ac:spMkLst>
            <pc:docMk/>
            <pc:sldMk cId="2837283845" sldId="302"/>
            <ac:spMk id="6" creationId="{4B764FE0-F190-8483-36BB-F20D70D2988F}"/>
          </ac:spMkLst>
        </pc:spChg>
        <pc:spChg chg="add mod">
          <ac:chgData name="GRAFFI 29" userId="a4615861a745328d" providerId="LiveId" clId="{973A3D64-73B1-4A08-AB8B-FC857A050492}" dt="2025-09-17T16:56:42.347" v="212" actId="1076"/>
          <ac:spMkLst>
            <pc:docMk/>
            <pc:sldMk cId="2837283845" sldId="302"/>
            <ac:spMk id="7" creationId="{B5C4F3D1-1914-C718-0C72-8054B6B05AAE}"/>
          </ac:spMkLst>
        </pc:spChg>
        <pc:spChg chg="add del mod">
          <ac:chgData name="GRAFFI 29" userId="a4615861a745328d" providerId="LiveId" clId="{973A3D64-73B1-4A08-AB8B-FC857A050492}" dt="2025-09-17T16:53:17.992" v="178" actId="21"/>
          <ac:spMkLst>
            <pc:docMk/>
            <pc:sldMk cId="2837283845" sldId="302"/>
            <ac:spMk id="8" creationId="{D22671A5-4F63-267F-E4E8-55F45CA2C0D8}"/>
          </ac:spMkLst>
        </pc:spChg>
        <pc:picChg chg="add mod modCrop">
          <ac:chgData name="GRAFFI 29" userId="a4615861a745328d" providerId="LiveId" clId="{973A3D64-73B1-4A08-AB8B-FC857A050492}" dt="2025-09-17T16:58:55.867" v="225" actId="1076"/>
          <ac:picMkLst>
            <pc:docMk/>
            <pc:sldMk cId="2837283845" sldId="302"/>
            <ac:picMk id="10" creationId="{D91FDA2D-F45F-5421-2451-CDD8C63E8743}"/>
          </ac:picMkLst>
        </pc:picChg>
      </pc:sldChg>
      <pc:sldChg chg="new del">
        <pc:chgData name="GRAFFI 29" userId="a4615861a745328d" providerId="LiveId" clId="{973A3D64-73B1-4A08-AB8B-FC857A050492}" dt="2025-09-17T16:47:35.671" v="136" actId="2696"/>
        <pc:sldMkLst>
          <pc:docMk/>
          <pc:sldMk cId="3832350851" sldId="302"/>
        </pc:sldMkLst>
      </pc:sldChg>
      <pc:sldChg chg="add del">
        <pc:chgData name="GRAFFI 29" userId="a4615861a745328d" providerId="LiveId" clId="{973A3D64-73B1-4A08-AB8B-FC857A050492}" dt="2025-09-17T16:47:45.919" v="141"/>
        <pc:sldMkLst>
          <pc:docMk/>
          <pc:sldMk cId="41691830" sldId="303"/>
        </pc:sldMkLst>
      </pc:sldChg>
      <pc:sldChg chg="add del">
        <pc:chgData name="GRAFFI 29" userId="a4615861a745328d" providerId="LiveId" clId="{973A3D64-73B1-4A08-AB8B-FC857A050492}" dt="2025-09-17T16:47:49.790" v="143"/>
        <pc:sldMkLst>
          <pc:docMk/>
          <pc:sldMk cId="448772296" sldId="30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7/8/2026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7/8/2026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369A-CA09-FC45-F371-F5967DDC1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B123A-E17F-EDA9-5B85-1C93F437FC3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4FF9822-129E-86F9-2B90-455E7D2E8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8C8E03-83D3-745E-A534-F017C4D95006}"/>
              </a:ext>
            </a:extLst>
          </p:cNvPr>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1348358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965845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pandas.pydata.org/docs/"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hyperlink" Target="https://customtkinter.tomschimansky.com/" TargetMode="External"/><Relationship Id="rId4" Type="http://schemas.openxmlformats.org/officeDocument/2006/relationships/hyperlink" Target="https://matplotlib.org/"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37745" y="2261305"/>
            <a:ext cx="8491145" cy="1167695"/>
          </a:xfrm>
        </p:spPr>
        <p:txBody>
          <a:bodyPr/>
          <a:lstStyle/>
          <a:p>
            <a:r>
              <a:rPr lang="en-US" sz="5400" dirty="0">
                <a:latin typeface="Arial Rounded MT Bold" panose="020F0704030504030204" pitchFamily="34" charset="0"/>
              </a:rPr>
              <a:t>Modern Data Dashboard</a:t>
            </a:r>
          </a:p>
        </p:txBody>
      </p:sp>
      <p:sp>
        <p:nvSpPr>
          <p:cNvPr id="5" name="TextBox 4">
            <a:extLst>
              <a:ext uri="{FF2B5EF4-FFF2-40B4-BE49-F238E27FC236}">
                <a16:creationId xmlns:a16="http://schemas.microsoft.com/office/drawing/2014/main" id="{BE60A0B0-5639-817D-F65A-5CE6E3572ADE}"/>
              </a:ext>
            </a:extLst>
          </p:cNvPr>
          <p:cNvSpPr txBox="1"/>
          <p:nvPr/>
        </p:nvSpPr>
        <p:spPr>
          <a:xfrm>
            <a:off x="3650881" y="4465557"/>
            <a:ext cx="3264149" cy="595035"/>
          </a:xfrm>
          <a:prstGeom prst="rect">
            <a:avLst/>
          </a:prstGeom>
          <a:noFill/>
        </p:spPr>
        <p:txBody>
          <a:bodyPr wrap="square">
            <a:spAutoFit/>
          </a:bodyPr>
          <a:lstStyle/>
          <a:p>
            <a:pPr algn="ctr">
              <a:lnSpc>
                <a:spcPts val="4078"/>
              </a:lnSpc>
            </a:pPr>
            <a:r>
              <a:rPr lang="en-US" sz="2800" b="1" dirty="0">
                <a:solidFill>
                  <a:srgbClr val="287AFF"/>
                </a:solidFill>
                <a:latin typeface="Bricolage Grotesque Bold"/>
                <a:ea typeface="Bricolage Grotesque Bold"/>
                <a:cs typeface="Bricolage Grotesque Bold"/>
                <a:sym typeface="Bricolage Grotesque Bold"/>
              </a:rPr>
              <a:t>   </a:t>
            </a:r>
            <a:r>
              <a:rPr lang="en-US" sz="2800" b="1" u="sng" dirty="0">
                <a:solidFill>
                  <a:srgbClr val="287AFF"/>
                </a:solidFill>
                <a:latin typeface="Bricolage Grotesque Bold"/>
                <a:ea typeface="Bricolage Grotesque Bold"/>
                <a:cs typeface="Bricolage Grotesque Bold"/>
                <a:sym typeface="Bricolage Grotesque Bold"/>
              </a:rPr>
              <a:t>Presented By:</a:t>
            </a:r>
          </a:p>
        </p:txBody>
      </p:sp>
      <p:sp>
        <p:nvSpPr>
          <p:cNvPr id="7" name="TextBox 6">
            <a:extLst>
              <a:ext uri="{FF2B5EF4-FFF2-40B4-BE49-F238E27FC236}">
                <a16:creationId xmlns:a16="http://schemas.microsoft.com/office/drawing/2014/main" id="{D90F62F1-A235-3668-209D-FB7C2770F220}"/>
              </a:ext>
            </a:extLst>
          </p:cNvPr>
          <p:cNvSpPr txBox="1"/>
          <p:nvPr/>
        </p:nvSpPr>
        <p:spPr>
          <a:xfrm>
            <a:off x="5875082" y="5060592"/>
            <a:ext cx="4259232" cy="500586"/>
          </a:xfrm>
          <a:prstGeom prst="rect">
            <a:avLst/>
          </a:prstGeom>
          <a:noFill/>
        </p:spPr>
        <p:txBody>
          <a:bodyPr wrap="square">
            <a:spAutoFit/>
          </a:bodyPr>
          <a:lstStyle/>
          <a:p>
            <a:pPr algn="ctr">
              <a:lnSpc>
                <a:spcPts val="3438"/>
              </a:lnSpc>
            </a:pPr>
            <a:r>
              <a:rPr lang="en-US" sz="2400" b="1" dirty="0">
                <a:solidFill>
                  <a:srgbClr val="000000"/>
                </a:solidFill>
                <a:latin typeface="Bricolage Grotesque Bold"/>
                <a:ea typeface="Bricolage Grotesque Bold"/>
                <a:cs typeface="Bricolage Grotesque Bold"/>
                <a:sym typeface="Bricolage Grotesque Bold"/>
              </a:rPr>
              <a:t>Vatsalya Sahu (301411023115)</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62DDB1C-E3BF-23AC-94B3-BDDD8DCD804F}"/>
              </a:ext>
            </a:extLst>
          </p:cNvPr>
          <p:cNvSpPr>
            <a:spLocks noGrp="1" noChangeArrowheads="1"/>
          </p:cNvSpPr>
          <p:nvPr>
            <p:ph idx="1"/>
          </p:nvPr>
        </p:nvSpPr>
        <p:spPr bwMode="auto">
          <a:xfrm>
            <a:off x="764427" y="1622390"/>
            <a:ext cx="789547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Introduction</a:t>
            </a:r>
          </a:p>
          <a:p>
            <a:pPr marL="457200" indent="-457200" eaLnBrk="0" fontAlgn="base" hangingPunct="0">
              <a:lnSpc>
                <a:spcPct val="100000"/>
              </a:lnSpc>
              <a:spcBef>
                <a:spcPct val="0"/>
              </a:spcBef>
              <a:spcAft>
                <a:spcPct val="0"/>
              </a:spcAft>
              <a:buFont typeface="Wingdings" panose="05000000000000000000" pitchFamily="2" charset="2"/>
              <a:buChar char="v"/>
            </a:pPr>
            <a:r>
              <a:rPr lang="en-US" b="1" dirty="0">
                <a:solidFill>
                  <a:srgbClr val="231F20"/>
                </a:solidFill>
                <a:latin typeface="Bricolage Grotesque Bold"/>
                <a:ea typeface="Bricolage Grotesque Bold"/>
                <a:cs typeface="Bricolage Grotesque Bold"/>
                <a:sym typeface="Bricolage Grotesque Bold"/>
              </a:rPr>
              <a:t>Literature Review</a:t>
            </a: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 </a:t>
            </a:r>
          </a:p>
          <a:p>
            <a:pPr marL="457200" lvl="0" indent="-457200" eaLnBrk="0" fontAlgn="base" hangingPunct="0">
              <a:lnSpc>
                <a:spcPct val="100000"/>
              </a:lnSpc>
              <a:spcBef>
                <a:spcPct val="0"/>
              </a:spcBef>
              <a:spcAft>
                <a:spcPct val="0"/>
              </a:spcAft>
              <a:buFont typeface="Wingdings" panose="05000000000000000000" pitchFamily="2" charset="2"/>
              <a:buChar char="v"/>
            </a:pPr>
            <a:r>
              <a:rPr lang="en-US" altLang="en-US" dirty="0">
                <a:latin typeface="Arial Rounded MT Bold" panose="020F0704030504030204" pitchFamily="34" charset="0"/>
                <a:cs typeface="Times New Roman" panose="02020603050405020304" pitchFamily="18" charset="0"/>
              </a:rPr>
              <a:t>Problem Statement </a:t>
            </a:r>
            <a:endPar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Key Technologies Used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Objectives </a:t>
            </a:r>
          </a:p>
          <a:p>
            <a:pPr marL="457200" lvl="0" indent="-457200" eaLnBrk="0" fontAlgn="base" hangingPunct="0">
              <a:lnSpc>
                <a:spcPct val="100000"/>
              </a:lnSpc>
              <a:spcBef>
                <a:spcPct val="0"/>
              </a:spcBef>
              <a:spcAft>
                <a:spcPct val="0"/>
              </a:spcAft>
              <a:buFont typeface="Wingdings" panose="05000000000000000000" pitchFamily="2" charset="2"/>
              <a:buChar char="v"/>
            </a:pPr>
            <a:r>
              <a:rPr lang="en-IN" dirty="0">
                <a:latin typeface="Arial Rounded MT Bold" panose="020F0704030504030204" pitchFamily="34" charset="0"/>
              </a:rPr>
              <a:t>Proposed</a:t>
            </a:r>
            <a:r>
              <a:rPr lang="en-IN" b="1" dirty="0">
                <a:latin typeface="Arial Rounded MT Bold" panose="020F0704030504030204" pitchFamily="34" charset="0"/>
              </a:rPr>
              <a:t> </a:t>
            </a:r>
            <a:r>
              <a:rPr lang="en-IN" dirty="0">
                <a:latin typeface="Arial Rounded MT Bold" panose="020F0704030504030204" pitchFamily="34" charset="0"/>
              </a:rPr>
              <a:t>Methodology</a:t>
            </a:r>
            <a:endParaRPr kumimoji="0" lang="en-US" altLang="en-US"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Data Flow Diagram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Proposed Algorithms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Expected Outcomes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Conclusion &amp; Future Scope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Rounded MT Bold" panose="020F0704030504030204" pitchFamily="34" charset="0"/>
                <a:cs typeface="Times New Roman" panose="02020603050405020304" pitchFamily="18" charset="0"/>
              </a:rPr>
              <a:t>References </a:t>
            </a:r>
          </a:p>
        </p:txBody>
      </p:sp>
      <p:sp>
        <p:nvSpPr>
          <p:cNvPr id="8" name="Title 1">
            <a:extLst>
              <a:ext uri="{FF2B5EF4-FFF2-40B4-BE49-F238E27FC236}">
                <a16:creationId xmlns:a16="http://schemas.microsoft.com/office/drawing/2014/main" id="{912DF434-28DB-4621-A497-D62C41CE0419}"/>
              </a:ext>
            </a:extLst>
          </p:cNvPr>
          <p:cNvSpPr>
            <a:spLocks noGrp="1"/>
          </p:cNvSpPr>
          <p:nvPr>
            <p:ph type="title"/>
          </p:nvPr>
        </p:nvSpPr>
        <p:spPr>
          <a:xfrm>
            <a:off x="358121" y="-101785"/>
            <a:ext cx="10991663" cy="1529976"/>
          </a:xfrm>
        </p:spPr>
        <p:txBody>
          <a:bodyPr/>
          <a:lstStyle/>
          <a:p>
            <a:pPr algn="ctr"/>
            <a:r>
              <a:rPr lang="en-US" sz="6000" b="0" dirty="0">
                <a:latin typeface="Arial Rounded MT Bold" panose="020F0704030504030204" pitchFamily="34" charset="0"/>
              </a:rPr>
              <a:t>TABLE OF CONTENTS</a:t>
            </a:r>
          </a:p>
        </p:txBody>
      </p:sp>
      <p:pic>
        <p:nvPicPr>
          <p:cNvPr id="10" name="Picture 9">
            <a:extLst>
              <a:ext uri="{FF2B5EF4-FFF2-40B4-BE49-F238E27FC236}">
                <a16:creationId xmlns:a16="http://schemas.microsoft.com/office/drawing/2014/main" id="{3B2A8633-09B4-1612-49E9-FD3000573AEE}"/>
              </a:ext>
            </a:extLst>
          </p:cNvPr>
          <p:cNvPicPr>
            <a:picLocks noChangeAspect="1"/>
          </p:cNvPicPr>
          <p:nvPr/>
        </p:nvPicPr>
        <p:blipFill>
          <a:blip r:embed="rId3"/>
          <a:srcRect t="25490" r="1895" b="18823"/>
          <a:stretch>
            <a:fillRect/>
          </a:stretch>
        </p:blipFill>
        <p:spPr>
          <a:xfrm>
            <a:off x="5770846" y="2024730"/>
            <a:ext cx="5656727" cy="32108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3398663" y="179295"/>
            <a:ext cx="4928508" cy="1210235"/>
          </a:xfrm>
        </p:spPr>
        <p:txBody>
          <a:bodyPr/>
          <a:lstStyle/>
          <a:p>
            <a:r>
              <a:rPr lang="en-US" altLang="en-US" b="0" dirty="0">
                <a:latin typeface="Arial Rounded MT Bold" panose="020F0704030504030204" pitchFamily="34" charset="0"/>
                <a:cs typeface="Times New Roman" panose="02020603050405020304" pitchFamily="18" charset="0"/>
              </a:rPr>
              <a:t>Introduction</a:t>
            </a:r>
            <a:endParaRPr lang="en-US" dirty="0"/>
          </a:p>
        </p:txBody>
      </p:sp>
      <p:sp>
        <p:nvSpPr>
          <p:cNvPr id="7" name="TextBox 6">
            <a:extLst>
              <a:ext uri="{FF2B5EF4-FFF2-40B4-BE49-F238E27FC236}">
                <a16:creationId xmlns:a16="http://schemas.microsoft.com/office/drawing/2014/main" id="{F409FAED-102B-347D-4FA6-92480189579A}"/>
              </a:ext>
            </a:extLst>
          </p:cNvPr>
          <p:cNvSpPr txBox="1"/>
          <p:nvPr/>
        </p:nvSpPr>
        <p:spPr>
          <a:xfrm>
            <a:off x="2250141" y="2079812"/>
            <a:ext cx="7225553" cy="3039035"/>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3760E750-0FAF-0958-9F91-A277C3AB28F4}"/>
              </a:ext>
            </a:extLst>
          </p:cNvPr>
          <p:cNvSpPr txBox="1"/>
          <p:nvPr/>
        </p:nvSpPr>
        <p:spPr>
          <a:xfrm>
            <a:off x="1147483" y="2250142"/>
            <a:ext cx="8534400" cy="3039035"/>
          </a:xfrm>
          <a:prstGeom prst="rect">
            <a:avLst/>
          </a:prstGeom>
          <a:noFill/>
        </p:spPr>
        <p:txBody>
          <a:bodyPr wrap="square" rtlCol="0">
            <a:spAutoFit/>
          </a:bodyPr>
          <a:lstStyle/>
          <a:p>
            <a:endParaRPr lang="en-IN" dirty="0"/>
          </a:p>
        </p:txBody>
      </p:sp>
      <p:sp>
        <p:nvSpPr>
          <p:cNvPr id="12" name="Rectangle 4">
            <a:extLst>
              <a:ext uri="{FF2B5EF4-FFF2-40B4-BE49-F238E27FC236}">
                <a16:creationId xmlns:a16="http://schemas.microsoft.com/office/drawing/2014/main" id="{8E30FAF8-EFFC-8C8F-9577-302BE35B58A2}"/>
              </a:ext>
            </a:extLst>
          </p:cNvPr>
          <p:cNvSpPr>
            <a:spLocks noChangeArrowheads="1"/>
          </p:cNvSpPr>
          <p:nvPr/>
        </p:nvSpPr>
        <p:spPr bwMode="auto">
          <a:xfrm>
            <a:off x="681318" y="1389530"/>
            <a:ext cx="115824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Rounded MT Bold" panose="020F0704030504030204" pitchFamily="34" charset="0"/>
              </a:rPr>
              <a:t>The “DATA DASHBOARD” is a desktop application built in Python.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Rounded MT Bold" panose="020F0704030504030204" pitchFamily="34" charset="0"/>
              </a:rPr>
              <a:t>It provides a user-friendly Graphical User Interface (GUI) for end-to-end data analysis.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Rounded MT Bold" panose="020F0704030504030204" pitchFamily="34" charset="0"/>
              </a:rPr>
              <a:t>It empowers users to load, clean, filter, and visualize datasets (CSV/Excel) without writing any code.</a:t>
            </a:r>
          </a:p>
        </p:txBody>
      </p:sp>
      <p:sp>
        <p:nvSpPr>
          <p:cNvPr id="14" name="Rectangle 5">
            <a:extLst>
              <a:ext uri="{FF2B5EF4-FFF2-40B4-BE49-F238E27FC236}">
                <a16:creationId xmlns:a16="http://schemas.microsoft.com/office/drawing/2014/main" id="{74B8CE99-8E80-29EB-AD61-1C2994D09CF6}"/>
              </a:ext>
            </a:extLst>
          </p:cNvPr>
          <p:cNvSpPr>
            <a:spLocks noChangeArrowheads="1"/>
          </p:cNvSpPr>
          <p:nvPr/>
        </p:nvSpPr>
        <p:spPr bwMode="auto">
          <a:xfrm>
            <a:off x="941294" y="3377598"/>
            <a:ext cx="10892118"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sng" strike="noStrike" cap="none" normalizeH="0" baseline="0" dirty="0">
                <a:ln>
                  <a:noFill/>
                </a:ln>
                <a:solidFill>
                  <a:schemeClr val="tx1"/>
                </a:solidFill>
                <a:effectLst/>
                <a:latin typeface="Arial Rounded MT Bold" panose="020F0704030504030204" pitchFamily="34" charset="0"/>
              </a:rPr>
              <a:t>Applications: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Rounded MT Bold" panose="020F07040305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Exploratory Data Analysis (EDA):</a:t>
            </a:r>
            <a:r>
              <a:rPr kumimoji="0" lang="en-US" altLang="en-US" sz="2400" b="0" i="0" u="none" strike="noStrike" cap="none" normalizeH="0" baseline="0" dirty="0">
                <a:ln>
                  <a:noFill/>
                </a:ln>
                <a:solidFill>
                  <a:schemeClr val="tx1"/>
                </a:solidFill>
                <a:effectLst/>
                <a:latin typeface="Arial" panose="020B0604020202020204" pitchFamily="34" charset="0"/>
              </a:rPr>
              <a:t> Quickly get statistics, previews, and column information.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Data Preprocessing:</a:t>
            </a:r>
            <a:r>
              <a:rPr kumimoji="0" lang="en-US" altLang="en-US" sz="2400" b="0" i="0" u="none" strike="noStrike" cap="none" normalizeH="0" baseline="0" dirty="0">
                <a:ln>
                  <a:noFill/>
                </a:ln>
                <a:solidFill>
                  <a:schemeClr val="tx1"/>
                </a:solidFill>
                <a:effectLst/>
                <a:latin typeface="Arial" panose="020B0604020202020204" pitchFamily="34" charset="0"/>
              </a:rPr>
              <a:t> Preparing datasets for machine learning by handling missing values, duplicates, and types.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a:ln>
                  <a:noFill/>
                </a:ln>
                <a:solidFill>
                  <a:schemeClr val="tx1"/>
                </a:solidFill>
                <a:effectLst/>
                <a:latin typeface="Arial" panose="020B0604020202020204" pitchFamily="34" charset="0"/>
              </a:rPr>
              <a:t>Academic/Business Reporting:</a:t>
            </a:r>
            <a:r>
              <a:rPr kumimoji="0" lang="en-US" altLang="en-US" sz="2400" b="0" i="0" u="none" strike="noStrike" cap="none" normalizeH="0" baseline="0" dirty="0">
                <a:ln>
                  <a:noFill/>
                </a:ln>
                <a:solidFill>
                  <a:schemeClr val="tx1"/>
                </a:solidFill>
                <a:effectLst/>
                <a:latin typeface="Arial" panose="020B0604020202020204" pitchFamily="34" charset="0"/>
              </a:rPr>
              <a:t> Filtering data to find insights and exporting plots for presentations.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DA314-4211-0DC7-E251-5F5484917C5F}"/>
              </a:ext>
            </a:extLst>
          </p:cNvPr>
          <p:cNvSpPr>
            <a:spLocks noGrp="1"/>
          </p:cNvSpPr>
          <p:nvPr>
            <p:ph type="title"/>
          </p:nvPr>
        </p:nvSpPr>
        <p:spPr>
          <a:xfrm>
            <a:off x="2076370" y="792162"/>
            <a:ext cx="8353026" cy="1165412"/>
          </a:xfrm>
        </p:spPr>
        <p:txBody>
          <a:bodyPr/>
          <a:lstStyle/>
          <a:p>
            <a:pPr algn="ctr"/>
            <a:r>
              <a:rPr lang="en-US" dirty="0">
                <a:solidFill>
                  <a:srgbClr val="231F20"/>
                </a:solidFill>
                <a:latin typeface="Arial Rounded MT Bold" panose="020F0704030504030204" pitchFamily="34" charset="0"/>
                <a:ea typeface="Bricolage Grotesque Bold"/>
                <a:cs typeface="Bricolage Grotesque Bold"/>
                <a:sym typeface="Bricolage Grotesque Bold"/>
              </a:rPr>
              <a:t>Literature Review</a:t>
            </a:r>
            <a:r>
              <a:rPr lang="en-US" altLang="en-US" b="0" dirty="0">
                <a:latin typeface="Arial Rounded MT Bold" panose="020F0704030504030204" pitchFamily="34" charset="0"/>
                <a:cs typeface="Times New Roman" panose="02020603050405020304" pitchFamily="18" charset="0"/>
              </a:rPr>
              <a:t> </a:t>
            </a:r>
            <a:br>
              <a:rPr lang="en-US" altLang="en-US" b="0" dirty="0">
                <a:latin typeface="Arial Rounded MT Bold" panose="020F0704030504030204" pitchFamily="34" charset="0"/>
                <a:cs typeface="Times New Roman" panose="02020603050405020304" pitchFamily="18" charset="0"/>
              </a:rPr>
            </a:br>
            <a:endParaRPr lang="en-IN" dirty="0">
              <a:latin typeface="Arial Rounded MT Bold" panose="020F0704030504030204" pitchFamily="34" charset="0"/>
            </a:endParaRPr>
          </a:p>
        </p:txBody>
      </p:sp>
      <p:sp>
        <p:nvSpPr>
          <p:cNvPr id="5" name="Rectangle 1">
            <a:extLst>
              <a:ext uri="{FF2B5EF4-FFF2-40B4-BE49-F238E27FC236}">
                <a16:creationId xmlns:a16="http://schemas.microsoft.com/office/drawing/2014/main" id="{28C3A5A3-7083-48E0-6E16-96FE0117A9A4}"/>
              </a:ext>
            </a:extLst>
          </p:cNvPr>
          <p:cNvSpPr>
            <a:spLocks noChangeArrowheads="1"/>
          </p:cNvSpPr>
          <p:nvPr/>
        </p:nvSpPr>
        <p:spPr bwMode="auto">
          <a:xfrm>
            <a:off x="860612" y="1683569"/>
            <a:ext cx="1117898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1B1C1D"/>
                </a:solidFill>
                <a:effectLst/>
                <a:latin typeface="Arial Rounded MT Bold" panose="020F0704030504030204" pitchFamily="34" charset="0"/>
              </a:rPr>
              <a:t>This</a:t>
            </a:r>
            <a:r>
              <a:rPr kumimoji="0" lang="en-US" altLang="en-US" sz="2200" b="0" i="0" u="none" strike="noStrike" cap="none" normalizeH="0" dirty="0">
                <a:ln>
                  <a:noFill/>
                </a:ln>
                <a:solidFill>
                  <a:srgbClr val="1B1C1D"/>
                </a:solidFill>
                <a:effectLst/>
                <a:latin typeface="Arial Rounded MT Bold" panose="020F0704030504030204" pitchFamily="34" charset="0"/>
              </a:rPr>
              <a:t> </a:t>
            </a:r>
            <a:r>
              <a:rPr kumimoji="0" lang="en-US" altLang="en-US" sz="2200" b="0" i="0" u="none" strike="noStrike" cap="none" normalizeH="0" baseline="0" dirty="0">
                <a:ln>
                  <a:noFill/>
                </a:ln>
                <a:solidFill>
                  <a:srgbClr val="1B1C1D"/>
                </a:solidFill>
                <a:effectLst/>
                <a:latin typeface="Arial Rounded MT Bold" panose="020F0704030504030204" pitchFamily="34" charset="0"/>
              </a:rPr>
              <a:t>Python project is a data analysis tool built with a combination of libraries. The front end, or user interface, is powered by </a:t>
            </a:r>
            <a:r>
              <a:rPr kumimoji="0" lang="en-US" altLang="en-US" sz="2200" b="1" i="0" u="none" strike="noStrike" cap="none" normalizeH="0" baseline="0" dirty="0">
                <a:ln>
                  <a:noFill/>
                </a:ln>
                <a:solidFill>
                  <a:srgbClr val="1B1C1D"/>
                </a:solidFill>
                <a:effectLst/>
                <a:latin typeface="Arial Rounded MT Bold" panose="020F0704030504030204" pitchFamily="34" charset="0"/>
              </a:rPr>
              <a:t>CustomTkinter</a:t>
            </a:r>
            <a:r>
              <a:rPr kumimoji="0" lang="en-US" altLang="en-US" sz="2200" b="0" i="0" u="none" strike="noStrike" cap="none" normalizeH="0" baseline="0" dirty="0">
                <a:ln>
                  <a:noFill/>
                </a:ln>
                <a:solidFill>
                  <a:srgbClr val="1B1C1D"/>
                </a:solidFill>
                <a:effectLst/>
                <a:latin typeface="Arial Rounded MT Bold" panose="020F0704030504030204" pitchFamily="34" charset="0"/>
              </a:rPr>
              <a:t>, which provides a modern, customizable graphical environment. On the backend, </a:t>
            </a:r>
            <a:r>
              <a:rPr kumimoji="0" lang="en-US" altLang="en-US" sz="2200" b="1" i="0" u="none" strike="noStrike" cap="none" normalizeH="0" baseline="0" dirty="0">
                <a:ln>
                  <a:noFill/>
                </a:ln>
                <a:solidFill>
                  <a:srgbClr val="1B1C1D"/>
                </a:solidFill>
                <a:effectLst/>
                <a:latin typeface="Arial Rounded MT Bold" panose="020F0704030504030204" pitchFamily="34" charset="0"/>
              </a:rPr>
              <a:t>Pandas</a:t>
            </a:r>
            <a:r>
              <a:rPr kumimoji="0" lang="en-US" altLang="en-US" sz="2200" b="0" i="0" u="none" strike="noStrike" cap="none" normalizeH="0" baseline="0" dirty="0">
                <a:ln>
                  <a:noFill/>
                </a:ln>
                <a:solidFill>
                  <a:srgbClr val="1B1C1D"/>
                </a:solidFill>
                <a:effectLst/>
                <a:latin typeface="Arial Rounded MT Bold" panose="020F0704030504030204" pitchFamily="34" charset="0"/>
              </a:rPr>
              <a:t> is the core engine for data manipulation and cleaning. It handles tasks like loading data from various file formats, removing duplicates, and filling in missing values using methods like mean, median, or mode.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rgbClr val="1B1C1D"/>
              </a:solidFill>
              <a:effectLst/>
              <a:latin typeface="Arial Rounded MT Bold" panose="020F07040305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rgbClr val="1B1C1D"/>
                </a:solidFill>
                <a:effectLst/>
                <a:latin typeface="Arial Rounded MT Bold" panose="020F0704030504030204" pitchFamily="34" charset="0"/>
              </a:rPr>
              <a:t>For data visualization, the project utilizes </a:t>
            </a:r>
            <a:r>
              <a:rPr kumimoji="0" lang="en-US" altLang="en-US" sz="2200" b="1" i="0" u="none" strike="noStrike" cap="none" normalizeH="0" baseline="0" dirty="0">
                <a:ln>
                  <a:noFill/>
                </a:ln>
                <a:solidFill>
                  <a:srgbClr val="1B1C1D"/>
                </a:solidFill>
                <a:effectLst/>
                <a:latin typeface="Arial Rounded MT Bold" panose="020F0704030504030204" pitchFamily="34" charset="0"/>
              </a:rPr>
              <a:t>Matplotlib</a:t>
            </a:r>
            <a:r>
              <a:rPr kumimoji="0" lang="en-US" altLang="en-US" sz="2200" b="0" i="0" u="none" strike="noStrike" cap="none" normalizeH="0" baseline="0" dirty="0">
                <a:ln>
                  <a:noFill/>
                </a:ln>
                <a:solidFill>
                  <a:srgbClr val="1B1C1D"/>
                </a:solidFill>
                <a:effectLst/>
                <a:latin typeface="Arial Rounded MT Bold" panose="020F0704030504030204" pitchFamily="34" charset="0"/>
              </a:rPr>
              <a:t>, a powerful plotting library, which is integrated into the CustomTkinter GUI using </a:t>
            </a:r>
            <a:r>
              <a:rPr kumimoji="0" lang="en-US" altLang="en-US" sz="2200" b="0" i="0" u="none" strike="noStrike" cap="none" normalizeH="0" baseline="0" dirty="0">
                <a:ln>
                  <a:noFill/>
                </a:ln>
                <a:solidFill>
                  <a:srgbClr val="575B5F"/>
                </a:solidFill>
                <a:effectLst/>
                <a:latin typeface="Arial Rounded MT Bold" panose="020F0704030504030204" pitchFamily="34" charset="0"/>
              </a:rPr>
              <a:t>FigureCanvasTkAgg</a:t>
            </a:r>
            <a:r>
              <a:rPr kumimoji="0" lang="en-US" altLang="en-US" sz="2200" b="0" i="0" u="none" strike="noStrike" cap="none" normalizeH="0" baseline="0" dirty="0">
                <a:ln>
                  <a:noFill/>
                </a:ln>
                <a:solidFill>
                  <a:srgbClr val="1B1C1D"/>
                </a:solidFill>
                <a:effectLst/>
                <a:latin typeface="Arial Rounded MT Bold" panose="020F0704030504030204" pitchFamily="34" charset="0"/>
              </a:rPr>
              <a:t>. This allows users to create and view various charts directly within the application. The project's strength lies in its ability to combine these well-known libraries to create a user-friendly application that simplifies common data science tasks.</a:t>
            </a:r>
            <a:endParaRPr kumimoji="0" lang="en-US" altLang="en-US" sz="2200" b="0" i="0" u="none" strike="noStrike" cap="none" normalizeH="0" baseline="0" dirty="0">
              <a:ln>
                <a:noFill/>
              </a:ln>
              <a:solidFill>
                <a:schemeClr val="tx1"/>
              </a:solidFill>
              <a:effectLst/>
              <a:latin typeface="Arial Rounded MT Bold" panose="020F0704030504030204" pitchFamily="34" charset="0"/>
            </a:endParaRPr>
          </a:p>
        </p:txBody>
      </p:sp>
    </p:spTree>
    <p:extLst>
      <p:ext uri="{BB962C8B-B14F-4D97-AF65-F5344CB8AC3E}">
        <p14:creationId xmlns:p14="http://schemas.microsoft.com/office/powerpoint/2010/main" val="3771830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7277-2689-4722-8BCC-C2CF957C8A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F9D0EE2-6699-6788-D3B1-95F4B287CDD1}"/>
              </a:ext>
            </a:extLst>
          </p:cNvPr>
          <p:cNvSpPr>
            <a:spLocks noGrp="1"/>
          </p:cNvSpPr>
          <p:nvPr>
            <p:ph type="title"/>
          </p:nvPr>
        </p:nvSpPr>
        <p:spPr>
          <a:xfrm>
            <a:off x="3068009" y="-293716"/>
            <a:ext cx="9779183" cy="1600835"/>
          </a:xfrm>
        </p:spPr>
        <p:txBody>
          <a:bodyPr/>
          <a:lstStyle/>
          <a:p>
            <a:r>
              <a:rPr lang="en-US" altLang="en-US" dirty="0">
                <a:latin typeface="Arial Rounded MT Bold" panose="020F0704030504030204" pitchFamily="34" charset="0"/>
                <a:cs typeface="Times New Roman" panose="02020603050405020304" pitchFamily="18" charset="0"/>
              </a:rPr>
              <a:t>Problem Statement </a:t>
            </a:r>
            <a:br>
              <a:rPr lang="en-US" altLang="en-US" b="0" dirty="0">
                <a:latin typeface="Arial Rounded MT Bold" panose="020F0704030504030204" pitchFamily="34" charset="0"/>
                <a:cs typeface="Times New Roman" panose="02020603050405020304" pitchFamily="18" charset="0"/>
              </a:rPr>
            </a:br>
            <a:endParaRPr lang="en-US"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8F98EE6D-0BD9-9444-A3FE-ACEFBB947555}"/>
              </a:ext>
            </a:extLst>
          </p:cNvPr>
          <p:cNvSpPr>
            <a:spLocks noGrp="1"/>
          </p:cNvSpPr>
          <p:nvPr>
            <p:ph idx="14"/>
          </p:nvPr>
        </p:nvSpPr>
        <p:spPr>
          <a:xfrm>
            <a:off x="330741" y="885969"/>
            <a:ext cx="10407260" cy="1507799"/>
          </a:xfrm>
        </p:spPr>
        <p:txBody>
          <a:bodyPr>
            <a:normAutofit/>
          </a:bodyPr>
          <a:lstStyle/>
          <a:p>
            <a:pPr marL="0" lvl="0" indent="0" algn="just" eaLnBrk="0" fontAlgn="base" hangingPunct="0">
              <a:lnSpc>
                <a:spcPct val="100000"/>
              </a:lnSpc>
              <a:spcBef>
                <a:spcPct val="0"/>
              </a:spcBef>
              <a:spcAft>
                <a:spcPct val="0"/>
              </a:spcAft>
              <a:buFontTx/>
              <a:buChar char="•"/>
            </a:pPr>
            <a:r>
              <a:rPr lang="en-US" altLang="en-US" b="1" dirty="0">
                <a:solidFill>
                  <a:schemeClr val="tx1"/>
                </a:solidFill>
                <a:latin typeface="Arial Rounded MT Bold" panose="020F0704030504030204" pitchFamily="34" charset="0"/>
              </a:rPr>
              <a:t>Problem:</a:t>
            </a:r>
            <a:r>
              <a:rPr lang="en-US" altLang="en-US" dirty="0">
                <a:solidFill>
                  <a:schemeClr val="tx1"/>
                </a:solidFill>
                <a:latin typeface="Arial Rounded MT Bold" panose="020F0704030504030204" pitchFamily="34" charset="0"/>
              </a:rPr>
              <a:t> Raw data from real-world sources is almost always "dirty." It contains missing values, duplicate entries, incorrect data types, and irrelevant information.</a:t>
            </a:r>
          </a:p>
          <a:p>
            <a:pPr marL="0" lvl="0" indent="0" algn="just" eaLnBrk="0" fontAlgn="base" hangingPunct="0">
              <a:lnSpc>
                <a:spcPct val="100000"/>
              </a:lnSpc>
              <a:spcBef>
                <a:spcPct val="0"/>
              </a:spcBef>
              <a:spcAft>
                <a:spcPct val="0"/>
              </a:spcAft>
              <a:buFontTx/>
              <a:buChar char="•"/>
            </a:pPr>
            <a:r>
              <a:rPr lang="en-US" altLang="en-US" b="1" dirty="0">
                <a:solidFill>
                  <a:schemeClr val="tx1"/>
                </a:solidFill>
                <a:latin typeface="Arial Rounded MT Bold" panose="020F0704030504030204" pitchFamily="34" charset="0"/>
              </a:rPr>
              <a:t>Challenge:</a:t>
            </a:r>
            <a:r>
              <a:rPr lang="en-US" altLang="en-US" dirty="0">
                <a:solidFill>
                  <a:schemeClr val="tx1"/>
                </a:solidFill>
                <a:latin typeface="Arial Rounded MT Bold" panose="020F0704030504030204" pitchFamily="34" charset="0"/>
              </a:rPr>
              <a:t> Before any meaningful analysis or visualization can be done, this data must be systematically cleaned and preprocessed. </a:t>
            </a:r>
          </a:p>
          <a:p>
            <a:pPr marL="0" lvl="0" indent="0" eaLnBrk="0" fontAlgn="base" hangingPunct="0">
              <a:lnSpc>
                <a:spcPct val="100000"/>
              </a:lnSpc>
              <a:spcBef>
                <a:spcPct val="0"/>
              </a:spcBef>
              <a:spcAft>
                <a:spcPct val="0"/>
              </a:spcAft>
              <a:buNone/>
            </a:pPr>
            <a:endParaRPr lang="en-US" altLang="en-US" dirty="0">
              <a:solidFill>
                <a:schemeClr val="tx1"/>
              </a:solidFill>
              <a:latin typeface="Arial Rounded MT Bold" panose="020F0704030504030204" pitchFamily="34" charset="0"/>
            </a:endParaRPr>
          </a:p>
          <a:p>
            <a:pPr marL="0" lvl="0" indent="0" eaLnBrk="0" fontAlgn="base" hangingPunct="0">
              <a:lnSpc>
                <a:spcPct val="100000"/>
              </a:lnSpc>
              <a:spcBef>
                <a:spcPct val="0"/>
              </a:spcBef>
              <a:spcAft>
                <a:spcPct val="0"/>
              </a:spcAft>
              <a:buNone/>
            </a:pPr>
            <a:endParaRPr lang="en-US" altLang="en-US" dirty="0">
              <a:solidFill>
                <a:schemeClr val="tx1"/>
              </a:solidFill>
              <a:latin typeface="Arial Rounded MT Bold" panose="020F0704030504030204" pitchFamily="34" charset="0"/>
            </a:endParaRPr>
          </a:p>
          <a:p>
            <a:endParaRPr lang="en-US" dirty="0"/>
          </a:p>
        </p:txBody>
      </p:sp>
      <p:sp>
        <p:nvSpPr>
          <p:cNvPr id="2" name="TextBox 1">
            <a:extLst>
              <a:ext uri="{FF2B5EF4-FFF2-40B4-BE49-F238E27FC236}">
                <a16:creationId xmlns:a16="http://schemas.microsoft.com/office/drawing/2014/main" id="{B38CDC06-D1D6-E3A0-17AB-2771E649CF76}"/>
              </a:ext>
            </a:extLst>
          </p:cNvPr>
          <p:cNvSpPr txBox="1"/>
          <p:nvPr/>
        </p:nvSpPr>
        <p:spPr>
          <a:xfrm>
            <a:off x="789570" y="2481923"/>
            <a:ext cx="8238565" cy="954107"/>
          </a:xfrm>
          <a:prstGeom prst="rect">
            <a:avLst/>
          </a:prstGeom>
          <a:noFill/>
        </p:spPr>
        <p:txBody>
          <a:bodyPr wrap="square" rtlCol="0">
            <a:spAutoFit/>
          </a:bodyPr>
          <a:lstStyle/>
          <a:p>
            <a:r>
              <a:rPr lang="en-US" altLang="en-US" sz="2800" b="1" dirty="0">
                <a:solidFill>
                  <a:schemeClr val="bg1"/>
                </a:solidFill>
                <a:latin typeface="Arial Rounded MT Bold" panose="020F0704030504030204" pitchFamily="34" charset="0"/>
              </a:rPr>
              <a:t>Identified Gaps:</a:t>
            </a:r>
            <a:endParaRPr lang="en-US" altLang="en-US" sz="2800" dirty="0">
              <a:solidFill>
                <a:schemeClr val="bg1"/>
              </a:solidFill>
              <a:latin typeface="Arial Rounded MT Bold" panose="020F0704030504030204" pitchFamily="34" charset="0"/>
            </a:endParaRPr>
          </a:p>
          <a:p>
            <a:r>
              <a:rPr lang="en-IN" sz="2800" dirty="0">
                <a:solidFill>
                  <a:schemeClr val="bg1"/>
                </a:solidFill>
                <a:latin typeface="Arial Rounded MT Bold" panose="020F0704030504030204" pitchFamily="34" charset="0"/>
              </a:rPr>
              <a:t>  </a:t>
            </a:r>
          </a:p>
        </p:txBody>
      </p:sp>
      <p:sp>
        <p:nvSpPr>
          <p:cNvPr id="4" name="TextBox 3">
            <a:extLst>
              <a:ext uri="{FF2B5EF4-FFF2-40B4-BE49-F238E27FC236}">
                <a16:creationId xmlns:a16="http://schemas.microsoft.com/office/drawing/2014/main" id="{D89076AF-68F1-F980-D0B9-7547EC71BD1D}"/>
              </a:ext>
            </a:extLst>
          </p:cNvPr>
          <p:cNvSpPr txBox="1"/>
          <p:nvPr/>
        </p:nvSpPr>
        <p:spPr>
          <a:xfrm>
            <a:off x="950257" y="3260066"/>
            <a:ext cx="10551459" cy="3046988"/>
          </a:xfrm>
          <a:prstGeom prst="rect">
            <a:avLst/>
          </a:prstGeom>
          <a:noFill/>
        </p:spPr>
        <p:txBody>
          <a:bodyPr wrap="square" rtlCol="0">
            <a:spAutoFit/>
          </a:bodyPr>
          <a:lstStyle/>
          <a:p>
            <a:pPr marL="342900" lvl="0" indent="-342900" algn="just" eaLnBrk="0" fontAlgn="base" hangingPunct="0">
              <a:spcBef>
                <a:spcPct val="0"/>
              </a:spcBef>
              <a:spcAft>
                <a:spcPct val="0"/>
              </a:spcAft>
              <a:buFont typeface="Wingdings" panose="05000000000000000000" pitchFamily="2" charset="2"/>
              <a:buChar char="Ø"/>
            </a:pPr>
            <a:r>
              <a:rPr lang="en-US" altLang="en-US" sz="2400" b="1" dirty="0">
                <a:solidFill>
                  <a:schemeClr val="bg1"/>
                </a:solidFill>
                <a:latin typeface="Arial Rounded MT Bold" panose="020F0704030504030204" pitchFamily="34" charset="0"/>
              </a:rPr>
              <a:t>Accessibility:</a:t>
            </a:r>
            <a:r>
              <a:rPr lang="en-US" altLang="en-US" sz="2400" dirty="0">
                <a:solidFill>
                  <a:schemeClr val="bg1"/>
                </a:solidFill>
                <a:latin typeface="Arial Rounded MT Bold" panose="020F0704030504030204" pitchFamily="34" charset="0"/>
              </a:rPr>
              <a:t> Non-programmers struggle to perform data cleaning tasks that are simple with code but complex with GUI tools like Excel. </a:t>
            </a:r>
          </a:p>
          <a:p>
            <a:pPr marL="342900" lvl="0" indent="-342900" algn="just" eaLnBrk="0" fontAlgn="base" hangingPunct="0">
              <a:spcBef>
                <a:spcPct val="0"/>
              </a:spcBef>
              <a:spcAft>
                <a:spcPct val="0"/>
              </a:spcAft>
              <a:buFont typeface="Wingdings" panose="05000000000000000000" pitchFamily="2" charset="2"/>
              <a:buChar char="Ø"/>
            </a:pPr>
            <a:r>
              <a:rPr lang="en-US" altLang="en-US" sz="2400" b="1" dirty="0">
                <a:solidFill>
                  <a:schemeClr val="bg1"/>
                </a:solidFill>
                <a:latin typeface="Arial Rounded MT Bold" panose="020F0704030504030204" pitchFamily="34" charset="0"/>
              </a:rPr>
              <a:t>Fidelity:</a:t>
            </a:r>
            <a:r>
              <a:rPr lang="en-US" altLang="en-US" sz="2400" dirty="0">
                <a:solidFill>
                  <a:schemeClr val="bg1"/>
                </a:solidFill>
                <a:latin typeface="Arial Rounded MT Bold" panose="020F0704030504030204" pitchFamily="34" charset="0"/>
              </a:rPr>
              <a:t> It is difficult to explore a dataset, clean it, and then filter it for visualization </a:t>
            </a:r>
            <a:r>
              <a:rPr lang="en-US" altLang="en-US" sz="2400" i="1" dirty="0">
                <a:solidFill>
                  <a:schemeClr val="bg1"/>
                </a:solidFill>
                <a:latin typeface="Arial Rounded MT Bold" panose="020F0704030504030204" pitchFamily="34" charset="0"/>
              </a:rPr>
              <a:t>without</a:t>
            </a:r>
            <a:r>
              <a:rPr lang="en-US" altLang="en-US" sz="2400" dirty="0">
                <a:solidFill>
                  <a:schemeClr val="bg1"/>
                </a:solidFill>
                <a:latin typeface="Arial Rounded MT Bold" panose="020F0704030504030204" pitchFamily="34" charset="0"/>
              </a:rPr>
              <a:t> overwriting the original data.</a:t>
            </a:r>
          </a:p>
          <a:p>
            <a:pPr marL="342900" lvl="0" indent="-342900" algn="just" eaLnBrk="0" fontAlgn="base" hangingPunct="0">
              <a:spcBef>
                <a:spcPct val="0"/>
              </a:spcBef>
              <a:spcAft>
                <a:spcPct val="0"/>
              </a:spcAft>
              <a:buFont typeface="Wingdings" panose="05000000000000000000" pitchFamily="2" charset="2"/>
              <a:buChar char="Ø"/>
            </a:pPr>
            <a:r>
              <a:rPr lang="en-US" altLang="en-US" sz="2400" b="1" dirty="0">
                <a:solidFill>
                  <a:schemeClr val="bg1"/>
                </a:solidFill>
                <a:latin typeface="Arial Rounded MT Bold" panose="020F0704030504030204" pitchFamily="34" charset="0"/>
              </a:rPr>
              <a:t>Integration:</a:t>
            </a:r>
            <a:r>
              <a:rPr lang="en-US" altLang="en-US" sz="2400" dirty="0">
                <a:solidFill>
                  <a:schemeClr val="bg1"/>
                </a:solidFill>
                <a:latin typeface="Arial Rounded MT Bold" panose="020F0704030504030204" pitchFamily="34" charset="0"/>
              </a:rPr>
              <a:t> A lack of tools that seamlessly connect the cleaning phase (modifying data) with the visualization phase (viewing data). </a:t>
            </a:r>
          </a:p>
          <a:p>
            <a:pPr marL="342900" indent="-342900">
              <a:buFont typeface="Wingdings" panose="05000000000000000000" pitchFamily="2" charset="2"/>
              <a:buChar char="Ø"/>
            </a:pPr>
            <a:endParaRPr lang="en-IN" sz="2400" dirty="0">
              <a:solidFill>
                <a:schemeClr val="bg1"/>
              </a:solidFill>
            </a:endParaRPr>
          </a:p>
        </p:txBody>
      </p:sp>
    </p:spTree>
    <p:extLst>
      <p:ext uri="{BB962C8B-B14F-4D97-AF65-F5344CB8AC3E}">
        <p14:creationId xmlns:p14="http://schemas.microsoft.com/office/powerpoint/2010/main" val="176966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E97F22-17F4-9DE5-3F6A-A9FEF24BD961}"/>
              </a:ext>
            </a:extLst>
          </p:cNvPr>
          <p:cNvSpPr>
            <a:spLocks noGrp="1"/>
          </p:cNvSpPr>
          <p:nvPr>
            <p:ph type="title"/>
          </p:nvPr>
        </p:nvSpPr>
        <p:spPr>
          <a:xfrm>
            <a:off x="997277" y="732879"/>
            <a:ext cx="9144000" cy="1272990"/>
          </a:xfrm>
        </p:spPr>
        <p:txBody>
          <a:bodyPr/>
          <a:lstStyle/>
          <a:p>
            <a:r>
              <a:rPr lang="en-US" altLang="en-US" b="0" dirty="0">
                <a:latin typeface="Arial Rounded MT Bold" panose="020F0704030504030204" pitchFamily="34" charset="0"/>
                <a:cs typeface="Times New Roman" panose="02020603050405020304" pitchFamily="18" charset="0"/>
              </a:rPr>
              <a:t>Key Technologies Used </a:t>
            </a:r>
            <a:br>
              <a:rPr lang="en-US" altLang="en-US" b="0" dirty="0">
                <a:latin typeface="Arial Rounded MT Bold" panose="020F0704030504030204" pitchFamily="34" charset="0"/>
                <a:cs typeface="Times New Roman" panose="02020603050405020304" pitchFamily="18" charset="0"/>
              </a:rPr>
            </a:br>
            <a:endParaRPr lang="en-IN" dirty="0"/>
          </a:p>
        </p:txBody>
      </p:sp>
      <p:sp>
        <p:nvSpPr>
          <p:cNvPr id="11" name="Rectangle 1">
            <a:extLst>
              <a:ext uri="{FF2B5EF4-FFF2-40B4-BE49-F238E27FC236}">
                <a16:creationId xmlns:a16="http://schemas.microsoft.com/office/drawing/2014/main" id="{C519CAD8-3B8F-1DF2-2DA0-EB910C159731}"/>
              </a:ext>
            </a:extLst>
          </p:cNvPr>
          <p:cNvSpPr>
            <a:spLocks noGrp="1" noChangeArrowheads="1"/>
          </p:cNvSpPr>
          <p:nvPr>
            <p:ph type="subTitle" idx="1"/>
          </p:nvPr>
        </p:nvSpPr>
        <p:spPr bwMode="auto">
          <a:xfrm>
            <a:off x="241044" y="2100417"/>
            <a:ext cx="72175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effectLst/>
                <a:latin typeface="Arial Rounded MT Bold" panose="020F0704030504030204" pitchFamily="34" charset="0"/>
              </a:rPr>
              <a:t>Python:</a:t>
            </a:r>
            <a:r>
              <a:rPr kumimoji="0" lang="en-US" altLang="en-US" sz="1800" b="0" i="0" u="none" strike="noStrike" cap="none" normalizeH="0" baseline="0" dirty="0">
                <a:ln>
                  <a:noFill/>
                </a:ln>
                <a:effectLst/>
                <a:latin typeface="Arial Rounded MT Bold" panose="020F0704030504030204" pitchFamily="34" charset="0"/>
              </a:rPr>
              <a:t> The core programming language.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effectLst/>
              <a:latin typeface="Arial Rounded MT Bold" panose="020F07040305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effectLst/>
                <a:latin typeface="Arial Rounded MT Bold" panose="020F0704030504030204" pitchFamily="34" charset="0"/>
              </a:rPr>
              <a:t>CustomTkinter:</a:t>
            </a:r>
            <a:r>
              <a:rPr kumimoji="0" lang="en-US" altLang="en-US" sz="1800" b="0" i="0" u="none" strike="noStrike" cap="none" normalizeH="0" baseline="0" dirty="0">
                <a:ln>
                  <a:noFill/>
                </a:ln>
                <a:effectLst/>
                <a:latin typeface="Arial Rounded MT Bold" panose="020F0704030504030204" pitchFamily="34" charset="0"/>
              </a:rPr>
              <a:t> A modern Python UI library used to build the entire responsive interface.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effectLst/>
              <a:latin typeface="Arial Rounded MT Bold" panose="020F07040305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effectLst/>
                <a:latin typeface="Arial Rounded MT Bold" panose="020F0704030504030204" pitchFamily="34" charset="0"/>
              </a:rPr>
              <a:t>Pandas:</a:t>
            </a:r>
            <a:r>
              <a:rPr kumimoji="0" lang="en-US" altLang="en-US" sz="1800" b="0" i="0" u="none" strike="noStrike" cap="none" normalizeH="0" baseline="0" dirty="0">
                <a:ln>
                  <a:noFill/>
                </a:ln>
                <a:effectLst/>
                <a:latin typeface="Arial Rounded MT Bold" panose="020F0704030504030204" pitchFamily="34" charset="0"/>
              </a:rPr>
              <a:t> The primary library for all data manipulation, including loading, cleaning, and filtering.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effectLst/>
              <a:latin typeface="Arial Rounded MT Bold" panose="020F07040305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effectLst/>
                <a:latin typeface="Arial Rounded MT Bold" panose="020F0704030504030204" pitchFamily="34" charset="0"/>
              </a:rPr>
              <a:t>Matplotlib:</a:t>
            </a:r>
            <a:r>
              <a:rPr kumimoji="0" lang="en-US" altLang="en-US" sz="1800" b="0" i="0" u="none" strike="noStrike" cap="none" normalizeH="0" baseline="0" dirty="0">
                <a:ln>
                  <a:noFill/>
                </a:ln>
                <a:effectLst/>
                <a:latin typeface="Arial Rounded MT Bold" panose="020F0704030504030204" pitchFamily="34" charset="0"/>
              </a:rPr>
              <a:t> The plotting library used to generate all charts (Bar, Line, Pie, etc.) which are then embedded within the GUI.</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effectLst/>
              <a:latin typeface="Arial Rounded MT Bold" panose="020F07040305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effectLst/>
                <a:latin typeface="Arial Rounded MT Bold" panose="020F0704030504030204" pitchFamily="34" charset="0"/>
              </a:rPr>
              <a:t>NumPy:</a:t>
            </a:r>
            <a:r>
              <a:rPr kumimoji="0" lang="en-US" altLang="en-US" sz="1800" b="0" i="0" u="none" strike="noStrike" cap="none" normalizeH="0" baseline="0" dirty="0">
                <a:ln>
                  <a:noFill/>
                </a:ln>
                <a:effectLst/>
                <a:latin typeface="Arial Rounded MT Bold" panose="020F0704030504030204" pitchFamily="34" charset="0"/>
              </a:rPr>
              <a:t> Used for numerical operations, especially during data cleaning and type conversion. </a:t>
            </a:r>
          </a:p>
        </p:txBody>
      </p:sp>
      <p:pic>
        <p:nvPicPr>
          <p:cNvPr id="19" name="Picture 18">
            <a:extLst>
              <a:ext uri="{FF2B5EF4-FFF2-40B4-BE49-F238E27FC236}">
                <a16:creationId xmlns:a16="http://schemas.microsoft.com/office/drawing/2014/main" id="{43D62F5E-E0A0-736F-0ED4-133EC776498F}"/>
              </a:ext>
            </a:extLst>
          </p:cNvPr>
          <p:cNvPicPr>
            <a:picLocks noChangeAspect="1"/>
          </p:cNvPicPr>
          <p:nvPr/>
        </p:nvPicPr>
        <p:blipFill>
          <a:blip r:embed="rId3"/>
          <a:stretch>
            <a:fillRect/>
          </a:stretch>
        </p:blipFill>
        <p:spPr>
          <a:xfrm>
            <a:off x="7655861" y="1492624"/>
            <a:ext cx="3872752" cy="3872752"/>
          </a:xfrm>
          <a:prstGeom prst="roundRect">
            <a:avLst>
              <a:gd name="adj" fmla="val 15314"/>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779750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3083669" y="394708"/>
            <a:ext cx="5316262" cy="1365997"/>
          </a:xfrm>
        </p:spPr>
        <p:txBody>
          <a:bodyPr/>
          <a:lstStyle/>
          <a:p>
            <a:pPr algn="ctr"/>
            <a:r>
              <a:rPr lang="en-US" altLang="en-US" sz="7200" b="0" dirty="0">
                <a:latin typeface="Arial Rounded MT Bold" panose="020F0704030504030204" pitchFamily="34" charset="0"/>
                <a:cs typeface="Times New Roman" panose="02020603050405020304" pitchFamily="18" charset="0"/>
              </a:rPr>
              <a:t>Objectives</a:t>
            </a:r>
            <a:endParaRPr lang="en-US" sz="7200" b="0" dirty="0"/>
          </a:p>
        </p:txBody>
      </p:sp>
      <p:sp>
        <p:nvSpPr>
          <p:cNvPr id="11" name="TextBox 10">
            <a:extLst>
              <a:ext uri="{FF2B5EF4-FFF2-40B4-BE49-F238E27FC236}">
                <a16:creationId xmlns:a16="http://schemas.microsoft.com/office/drawing/2014/main" id="{7FFF79B9-03C5-8624-CD4D-EA470C8EA3CA}"/>
              </a:ext>
            </a:extLst>
          </p:cNvPr>
          <p:cNvSpPr txBox="1"/>
          <p:nvPr/>
        </p:nvSpPr>
        <p:spPr>
          <a:xfrm>
            <a:off x="242048" y="2229729"/>
            <a:ext cx="11949952" cy="4493538"/>
          </a:xfrm>
          <a:prstGeom prst="rect">
            <a:avLst/>
          </a:prstGeom>
          <a:noFill/>
        </p:spPr>
        <p:txBody>
          <a:bodyPr wrap="square" rtlCol="0">
            <a:spAutoFit/>
          </a:bodyPr>
          <a:lstStyle/>
          <a:p>
            <a:pPr marL="342900" indent="-342900">
              <a:buFont typeface="Wingdings" panose="05000000000000000000" pitchFamily="2" charset="2"/>
              <a:buChar char="Ø"/>
            </a:pPr>
            <a:r>
              <a:rPr lang="en-US" sz="2200" b="1" u="sng" dirty="0">
                <a:solidFill>
                  <a:schemeClr val="bg1"/>
                </a:solidFill>
                <a:latin typeface="Arial Rounded MT Bold" panose="020F0704030504030204" pitchFamily="34" charset="0"/>
              </a:rPr>
              <a:t>Objective 1: Data Ingestion &amp; Exploration</a:t>
            </a:r>
          </a:p>
          <a:p>
            <a:pPr marL="800100" lvl="1" indent="-342900" algn="just">
              <a:buFont typeface="Wingdings" panose="05000000000000000000" pitchFamily="2" charset="2"/>
              <a:buChar char="§"/>
            </a:pPr>
            <a:r>
              <a:rPr lang="en-US" sz="2200" dirty="0">
                <a:solidFill>
                  <a:schemeClr val="bg1"/>
                </a:solidFill>
                <a:latin typeface="Arial Rounded MT Bold" panose="020F0704030504030204" pitchFamily="34" charset="0"/>
              </a:rPr>
              <a:t>To develop a robust system for loading CSV and Excel files, providing users with an immediate data overview including key statistics, a data preview, and a summary of column properties.</a:t>
            </a:r>
          </a:p>
          <a:p>
            <a:pPr marL="342900" indent="-342900">
              <a:buFont typeface="Wingdings" panose="05000000000000000000" pitchFamily="2" charset="2"/>
              <a:buChar char="Ø"/>
            </a:pPr>
            <a:r>
              <a:rPr lang="en-US" sz="2200" b="1" u="sng" dirty="0">
                <a:solidFill>
                  <a:schemeClr val="bg1"/>
                </a:solidFill>
                <a:latin typeface="Arial Rounded MT Bold" panose="020F0704030504030204" pitchFamily="34" charset="0"/>
              </a:rPr>
              <a:t>Objective 2: Data Cleaning &amp; Filtering</a:t>
            </a:r>
          </a:p>
          <a:p>
            <a:pPr marL="800100" lvl="1" indent="-342900" algn="just">
              <a:buFont typeface="Wingdings" panose="05000000000000000000" pitchFamily="2" charset="2"/>
              <a:buChar char="§"/>
            </a:pPr>
            <a:r>
              <a:rPr lang="en-US" sz="2200" dirty="0">
                <a:solidFill>
                  <a:schemeClr val="bg1"/>
                </a:solidFill>
                <a:latin typeface="Arial Rounded MT Bold" panose="020F0704030504030204" pitchFamily="34" charset="0"/>
              </a:rPr>
              <a:t>To implement a comprehensive toolkit for data cleaning and filtering, allowing users to remove duplicates, handle missing values with various imputation methods, convert data types, and query the dataset using both column-specific and global search functions.</a:t>
            </a:r>
          </a:p>
          <a:p>
            <a:pPr marL="342900" indent="-342900" algn="just">
              <a:buFont typeface="Wingdings" panose="05000000000000000000" pitchFamily="2" charset="2"/>
              <a:buChar char="Ø"/>
            </a:pPr>
            <a:r>
              <a:rPr lang="en-US" sz="2200" b="1" u="sng" dirty="0">
                <a:solidFill>
                  <a:schemeClr val="bg1"/>
                </a:solidFill>
                <a:latin typeface="Arial Rounded MT Bold" panose="020F0704030504030204" pitchFamily="34" charset="0"/>
              </a:rPr>
              <a:t>Objective 3: Visualization &amp; Exporting</a:t>
            </a:r>
          </a:p>
          <a:p>
            <a:pPr marL="800100" lvl="1" indent="-342900" algn="just">
              <a:buFont typeface="Wingdings" panose="05000000000000000000" pitchFamily="2" charset="2"/>
              <a:buChar char="§"/>
            </a:pPr>
            <a:r>
              <a:rPr lang="en-US" sz="2200" dirty="0">
                <a:solidFill>
                  <a:schemeClr val="bg1"/>
                </a:solidFill>
                <a:latin typeface="Arial Rounded MT Bold" panose="020F0704030504030204" pitchFamily="34" charset="0"/>
              </a:rPr>
              <a:t>To integrate a powerful visualization module with Matplotlib to create a variety of charts (e.g., Bar, Line, Heatmap) and enable users to export their cleaned data, filtered results, and generated charts for external use.</a:t>
            </a:r>
          </a:p>
        </p:txBody>
      </p:sp>
    </p:spTree>
    <p:extLst>
      <p:ext uri="{BB962C8B-B14F-4D97-AF65-F5344CB8AC3E}">
        <p14:creationId xmlns:p14="http://schemas.microsoft.com/office/powerpoint/2010/main" val="2529338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825123" y="-75056"/>
            <a:ext cx="9779183" cy="1219759"/>
          </a:xfrm>
        </p:spPr>
        <p:txBody>
          <a:bodyPr/>
          <a:lstStyle/>
          <a:p>
            <a:pPr algn="ctr"/>
            <a:r>
              <a:rPr lang="en-IN" sz="6000" dirty="0">
                <a:latin typeface="Arial Rounded MT Bold" panose="020F0704030504030204" pitchFamily="34" charset="0"/>
              </a:rPr>
              <a:t>Proposed Methodology</a:t>
            </a:r>
            <a:endParaRPr lang="en-US" sz="6000" dirty="0">
              <a:latin typeface="Arial Rounded MT Bold" panose="020F0704030504030204" pitchFamily="34" charset="0"/>
            </a:endParaRPr>
          </a:p>
        </p:txBody>
      </p:sp>
      <p:sp>
        <p:nvSpPr>
          <p:cNvPr id="11" name="TextBox 10">
            <a:extLst>
              <a:ext uri="{FF2B5EF4-FFF2-40B4-BE49-F238E27FC236}">
                <a16:creationId xmlns:a16="http://schemas.microsoft.com/office/drawing/2014/main" id="{E4D19B8B-E06E-0C65-43EB-DA207E177D17}"/>
              </a:ext>
            </a:extLst>
          </p:cNvPr>
          <p:cNvSpPr txBox="1"/>
          <p:nvPr/>
        </p:nvSpPr>
        <p:spPr>
          <a:xfrm>
            <a:off x="825123" y="1443495"/>
            <a:ext cx="10775576" cy="449353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bg1"/>
                </a:solidFill>
                <a:effectLst/>
                <a:latin typeface="Google Sans Text"/>
              </a:rPr>
              <a:t>Our methodology for this project follows a structured, three-phase approach to build a robust data analysis tool.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bg1"/>
                </a:solidFill>
                <a:effectLst/>
                <a:latin typeface="Google Sans Text"/>
              </a:rPr>
              <a:t>Phase 1: Foundation</a:t>
            </a:r>
            <a:r>
              <a:rPr kumimoji="0" lang="en-US" altLang="en-US" sz="2200" b="0" i="0" u="none" strike="noStrike" cap="none" normalizeH="0" baseline="0" dirty="0">
                <a:ln>
                  <a:noFill/>
                </a:ln>
                <a:solidFill>
                  <a:schemeClr val="bg1"/>
                </a:solidFill>
                <a:effectLst/>
                <a:latin typeface="Google Sans Text"/>
              </a:rPr>
              <a:t> focuses on establishing the core data-handling capabilities, including the GUI framework and data ingestion functions. We will design the user interface and implement file loading for CSV and Excel formats, along with a data overview to display key statistics.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bg1"/>
                </a:solidFill>
                <a:effectLst/>
                <a:latin typeface="Google Sans Text"/>
              </a:rPr>
              <a:t>Phase 2: Core Functionality</a:t>
            </a:r>
            <a:r>
              <a:rPr kumimoji="0" lang="en-US" altLang="en-US" sz="2200" b="0" i="0" u="none" strike="noStrike" cap="none" normalizeH="0" baseline="0" dirty="0">
                <a:ln>
                  <a:noFill/>
                </a:ln>
                <a:solidFill>
                  <a:schemeClr val="bg1"/>
                </a:solidFill>
                <a:effectLst/>
                <a:latin typeface="Google Sans Text"/>
              </a:rPr>
              <a:t> involves building the primary data manipulation features. This phase will implement the cleaning module (handling duplicates, missing values, and type conversion) and the powerful filtering and search capabilities.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bg1"/>
                </a:solidFill>
                <a:effectLst/>
                <a:latin typeface="Google Sans Text"/>
              </a:rPr>
              <a:t>Phase 3: Refinement and Delivery</a:t>
            </a:r>
            <a:r>
              <a:rPr kumimoji="0" lang="en-US" altLang="en-US" sz="2200" b="0" i="0" u="none" strike="noStrike" cap="none" normalizeH="0" baseline="0" dirty="0">
                <a:ln>
                  <a:noFill/>
                </a:ln>
                <a:solidFill>
                  <a:schemeClr val="bg1"/>
                </a:solidFill>
                <a:effectLst/>
                <a:latin typeface="Google Sans Text"/>
              </a:rPr>
              <a:t> will focus on integrating the visualization module, enabling interactive plotting with Matplotlib, and adding the export functions for cleaned data and charts. This systematic process ensures that we build a stable, functional, and user-friendly application that meets all project objectives.</a:t>
            </a:r>
            <a:endParaRPr kumimoji="0" lang="en-US" altLang="en-US" sz="22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65210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295400" y="-473074"/>
            <a:ext cx="9601200" cy="1653371"/>
          </a:xfrm>
        </p:spPr>
        <p:txBody>
          <a:bodyPr/>
          <a:lstStyle/>
          <a:p>
            <a:pPr algn="ctr"/>
            <a:r>
              <a:rPr lang="en-US" altLang="en-US" sz="6000" b="0" dirty="0">
                <a:latin typeface="Arial Rounded MT Bold" panose="020F0704030504030204" pitchFamily="34" charset="0"/>
                <a:cs typeface="Times New Roman" panose="02020603050405020304" pitchFamily="18" charset="0"/>
              </a:rPr>
              <a:t>Data Flow Diagram</a:t>
            </a:r>
            <a:endParaRPr lang="en-US" sz="6000" dirty="0"/>
          </a:p>
        </p:txBody>
      </p:sp>
      <p:pic>
        <p:nvPicPr>
          <p:cNvPr id="10" name="Picture 9">
            <a:extLst>
              <a:ext uri="{FF2B5EF4-FFF2-40B4-BE49-F238E27FC236}">
                <a16:creationId xmlns:a16="http://schemas.microsoft.com/office/drawing/2014/main" id="{61C0A384-481F-7DE5-8F73-A6B417EDF933}"/>
              </a:ext>
            </a:extLst>
          </p:cNvPr>
          <p:cNvPicPr>
            <a:picLocks noChangeAspect="1"/>
          </p:cNvPicPr>
          <p:nvPr/>
        </p:nvPicPr>
        <p:blipFill>
          <a:blip r:embed="rId3"/>
          <a:srcRect t="35584" r="1544" b="32208"/>
          <a:stretch>
            <a:fillRect/>
          </a:stretch>
        </p:blipFill>
        <p:spPr>
          <a:xfrm>
            <a:off x="1082814" y="1782043"/>
            <a:ext cx="10026372" cy="32939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6593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947857" y="-332195"/>
            <a:ext cx="10643508" cy="1371600"/>
          </a:xfrm>
        </p:spPr>
        <p:txBody>
          <a:bodyPr/>
          <a:lstStyle/>
          <a:p>
            <a:pPr lvl="0" algn="ctr" eaLnBrk="0" fontAlgn="base" hangingPunct="0">
              <a:lnSpc>
                <a:spcPct val="100000"/>
              </a:lnSpc>
              <a:spcAft>
                <a:spcPct val="0"/>
              </a:spcAft>
            </a:pPr>
            <a:r>
              <a:rPr lang="en-US" altLang="en-US" sz="6000" b="0" dirty="0">
                <a:latin typeface="Arial Rounded MT Bold" panose="020F0704030504030204" pitchFamily="34" charset="0"/>
                <a:cs typeface="Times New Roman" panose="02020603050405020304" pitchFamily="18" charset="0"/>
              </a:rPr>
              <a:t>Proposed Algorithms</a:t>
            </a:r>
          </a:p>
        </p:txBody>
      </p:sp>
      <p:sp>
        <p:nvSpPr>
          <p:cNvPr id="12" name="TextBox 11">
            <a:extLst>
              <a:ext uri="{FF2B5EF4-FFF2-40B4-BE49-F238E27FC236}">
                <a16:creationId xmlns:a16="http://schemas.microsoft.com/office/drawing/2014/main" id="{0D599394-56B6-A569-89EE-85B43EB6D88E}"/>
              </a:ext>
            </a:extLst>
          </p:cNvPr>
          <p:cNvSpPr txBox="1"/>
          <p:nvPr/>
        </p:nvSpPr>
        <p:spPr>
          <a:xfrm>
            <a:off x="632011" y="1274564"/>
            <a:ext cx="10927977" cy="830997"/>
          </a:xfrm>
          <a:prstGeom prst="rect">
            <a:avLst/>
          </a:prstGeom>
          <a:noFill/>
        </p:spPr>
        <p:txBody>
          <a:bodyPr wrap="square" rtlCol="0">
            <a:spAutoFit/>
          </a:bodyPr>
          <a:lstStyle/>
          <a:p>
            <a:pPr algn="just"/>
            <a:r>
              <a:rPr lang="en-US" sz="2400" dirty="0">
                <a:latin typeface="Arial Rounded MT Bold" panose="020F0704030504030204" pitchFamily="34" charset="0"/>
              </a:rPr>
              <a:t>The application's logic is built on a data flow model that uses two primary DataFrames to separate cleaning and filtering operations.</a:t>
            </a:r>
            <a:endParaRPr lang="en-IN" sz="2400" dirty="0">
              <a:latin typeface="Arial Rounded MT Bold" panose="020F0704030504030204" pitchFamily="34" charset="0"/>
            </a:endParaRPr>
          </a:p>
        </p:txBody>
      </p:sp>
      <p:sp>
        <p:nvSpPr>
          <p:cNvPr id="14" name="Rectangle 1">
            <a:extLst>
              <a:ext uri="{FF2B5EF4-FFF2-40B4-BE49-F238E27FC236}">
                <a16:creationId xmlns:a16="http://schemas.microsoft.com/office/drawing/2014/main" id="{16D0D772-8770-C6EA-4532-278736DE824E}"/>
              </a:ext>
            </a:extLst>
          </p:cNvPr>
          <p:cNvSpPr>
            <a:spLocks noChangeArrowheads="1"/>
          </p:cNvSpPr>
          <p:nvPr/>
        </p:nvSpPr>
        <p:spPr bwMode="auto">
          <a:xfrm>
            <a:off x="289111" y="2340720"/>
            <a:ext cx="1161377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bg1"/>
                </a:solidFill>
                <a:effectLst/>
                <a:latin typeface="Arial" panose="020B0604020202020204" pitchFamily="34" charset="0"/>
              </a:rPr>
              <a:t>Ingestion:</a:t>
            </a:r>
            <a:r>
              <a:rPr kumimoji="0" lang="en-US" altLang="en-US" sz="2000" b="0" i="0" u="none" strike="noStrike" cap="none" normalizeH="0" baseline="0" dirty="0">
                <a:ln>
                  <a:noFill/>
                </a:ln>
                <a:solidFill>
                  <a:schemeClr val="bg1"/>
                </a:solidFill>
                <a:effectLst/>
                <a:latin typeface="Arial" panose="020B0604020202020204" pitchFamily="34" charset="0"/>
              </a:rPr>
              <a:t> When a user loads a file, the application reads the data into a </a:t>
            </a:r>
            <a:r>
              <a:rPr kumimoji="0" lang="en-US" altLang="en-US" sz="2000" b="1" i="0" u="none" strike="noStrike" cap="none" normalizeH="0" baseline="0" dirty="0">
                <a:ln>
                  <a:noFill/>
                </a:ln>
                <a:solidFill>
                  <a:schemeClr val="bg1"/>
                </a:solidFill>
                <a:effectLst/>
                <a:latin typeface="Arial" panose="020B0604020202020204" pitchFamily="34" charset="0"/>
              </a:rPr>
              <a:t>master DataFrame</a:t>
            </a:r>
            <a:r>
              <a:rPr kumimoji="0" lang="en-US" altLang="en-US" sz="2000" b="0" i="0" u="none" strike="noStrike" cap="none" normalizeH="0" baseline="0" dirty="0">
                <a:ln>
                  <a:noFill/>
                </a:ln>
                <a:solidFill>
                  <a:schemeClr val="bg1"/>
                </a:solidFill>
                <a:effectLst/>
                <a:latin typeface="Arial" panose="020B0604020202020204" pitchFamily="34" charset="0"/>
              </a:rPr>
              <a:t>. A separate copy is then made for a </a:t>
            </a:r>
            <a:r>
              <a:rPr kumimoji="0" lang="en-US" altLang="en-US" sz="2000" b="1" i="0" u="none" strike="noStrike" cap="none" normalizeH="0" baseline="0" dirty="0">
                <a:ln>
                  <a:noFill/>
                </a:ln>
                <a:solidFill>
                  <a:schemeClr val="bg1"/>
                </a:solidFill>
                <a:effectLst/>
                <a:latin typeface="Arial" panose="020B0604020202020204" pitchFamily="34" charset="0"/>
              </a:rPr>
              <a:t>view DataFrame</a:t>
            </a:r>
            <a:r>
              <a:rPr kumimoji="0" lang="en-US" altLang="en-US" sz="2000" b="0" i="0" u="none" strike="noStrike" cap="none" normalizeH="0" baseline="0" dirty="0">
                <a:ln>
                  <a:noFill/>
                </a:ln>
                <a:solidFill>
                  <a:schemeClr val="bg1"/>
                </a:solidFill>
                <a:effectLst/>
                <a:latin typeface="Arial" panose="020B0604020202020204" pitchFamily="34" charset="0"/>
              </a:rPr>
              <a:t>. This ensures the original data remains unaltered for permanent cleaning actions.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bg1"/>
                </a:solidFill>
                <a:effectLst/>
                <a:latin typeface="Arial" panose="020B0604020202020204" pitchFamily="34" charset="0"/>
              </a:rPr>
              <a:t>Manipulation: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a:ln>
                  <a:noFill/>
                </a:ln>
                <a:solidFill>
                  <a:schemeClr val="bg1"/>
                </a:solidFill>
                <a:effectLst/>
                <a:latin typeface="Arial" panose="020B0604020202020204" pitchFamily="34" charset="0"/>
              </a:rPr>
              <a:t>Cleaning actions</a:t>
            </a:r>
            <a:r>
              <a:rPr kumimoji="0" lang="en-US" altLang="en-US" sz="2000" b="0" i="0" u="none" strike="noStrike" cap="none" normalizeH="0" baseline="0" dirty="0">
                <a:ln>
                  <a:noFill/>
                </a:ln>
                <a:solidFill>
                  <a:schemeClr val="bg1"/>
                </a:solidFill>
                <a:effectLst/>
                <a:latin typeface="Arial" panose="020B0604020202020204" pitchFamily="34" charset="0"/>
              </a:rPr>
              <a:t> (like filling missing values or removing duplicates) are applied directly to the </a:t>
            </a:r>
            <a:r>
              <a:rPr kumimoji="0" lang="en-US" altLang="en-US" sz="2000" b="1" i="0" u="none" strike="noStrike" cap="none" normalizeH="0" baseline="0" dirty="0">
                <a:ln>
                  <a:noFill/>
                </a:ln>
                <a:solidFill>
                  <a:schemeClr val="bg1"/>
                </a:solidFill>
                <a:effectLst/>
                <a:latin typeface="Arial" panose="020B0604020202020204" pitchFamily="34" charset="0"/>
              </a:rPr>
              <a:t>master DataFrame</a:t>
            </a:r>
            <a:r>
              <a:rPr kumimoji="0" lang="en-US" altLang="en-US" sz="2000" b="0" i="0" u="none" strike="noStrike" cap="none" normalizeH="0" baseline="0" dirty="0">
                <a:ln>
                  <a:noFill/>
                </a:ln>
                <a:solidFill>
                  <a:schemeClr val="bg1"/>
                </a:solidFill>
                <a:effectLst/>
                <a:latin typeface="Arial" panose="020B0604020202020204" pitchFamily="34" charset="0"/>
              </a:rPr>
              <a:t>. The </a:t>
            </a:r>
            <a:r>
              <a:rPr kumimoji="0" lang="en-US" altLang="en-US" sz="2000" b="1" i="0" u="none" strike="noStrike" cap="none" normalizeH="0" baseline="0" dirty="0">
                <a:ln>
                  <a:noFill/>
                </a:ln>
                <a:solidFill>
                  <a:schemeClr val="bg1"/>
                </a:solidFill>
                <a:effectLst/>
                <a:latin typeface="Arial" panose="020B0604020202020204" pitchFamily="34" charset="0"/>
              </a:rPr>
              <a:t>view DataFrame</a:t>
            </a:r>
            <a:r>
              <a:rPr kumimoji="0" lang="en-US" altLang="en-US" sz="2000" b="0" i="0" u="none" strike="noStrike" cap="none" normalizeH="0" baseline="0" dirty="0">
                <a:ln>
                  <a:noFill/>
                </a:ln>
                <a:solidFill>
                  <a:schemeClr val="bg1"/>
                </a:solidFill>
                <a:effectLst/>
                <a:latin typeface="Arial" panose="020B0604020202020204" pitchFamily="34" charset="0"/>
              </a:rPr>
              <a:t> is then refreshed to a new copy of the updated master. In contrast, </a:t>
            </a:r>
            <a:r>
              <a:rPr kumimoji="0" lang="en-US" altLang="en-US" sz="2000" b="1" i="0" u="none" strike="noStrike" cap="none" normalizeH="0" baseline="0" dirty="0">
                <a:ln>
                  <a:noFill/>
                </a:ln>
                <a:solidFill>
                  <a:schemeClr val="bg1"/>
                </a:solidFill>
                <a:effectLst/>
                <a:latin typeface="Arial" panose="020B0604020202020204" pitchFamily="34" charset="0"/>
              </a:rPr>
              <a:t>filtering and searching</a:t>
            </a:r>
            <a:r>
              <a:rPr kumimoji="0" lang="en-US" altLang="en-US" sz="2000" b="0" i="0" u="none" strike="noStrike" cap="none" normalizeH="0" baseline="0" dirty="0">
                <a:ln>
                  <a:noFill/>
                </a:ln>
                <a:solidFill>
                  <a:schemeClr val="bg1"/>
                </a:solidFill>
                <a:effectLst/>
                <a:latin typeface="Arial" panose="020B0604020202020204" pitchFamily="34" charset="0"/>
              </a:rPr>
              <a:t> are applied only to the </a:t>
            </a:r>
            <a:r>
              <a:rPr kumimoji="0" lang="en-US" altLang="en-US" sz="2000" b="1" i="0" u="none" strike="noStrike" cap="none" normalizeH="0" baseline="0" dirty="0">
                <a:ln>
                  <a:noFill/>
                </a:ln>
                <a:solidFill>
                  <a:schemeClr val="bg1"/>
                </a:solidFill>
                <a:effectLst/>
                <a:latin typeface="Arial" panose="020B0604020202020204" pitchFamily="34" charset="0"/>
              </a:rPr>
              <a:t>view DataFrame</a:t>
            </a:r>
            <a:r>
              <a:rPr kumimoji="0" lang="en-US" altLang="en-US" sz="2000" b="0" i="0" u="none" strike="noStrike" cap="none" normalizeH="0" baseline="0" dirty="0">
                <a:ln>
                  <a:noFill/>
                </a:ln>
                <a:solidFill>
                  <a:schemeClr val="bg1"/>
                </a:solidFill>
                <a:effectLst/>
                <a:latin typeface="Arial" panose="020B0604020202020204" pitchFamily="34" charset="0"/>
              </a:rPr>
              <a:t>. This non-destructive process lets users easily experiment with data subsets without affecting the cleaned master data.</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bg1"/>
                </a:solidFill>
                <a:effectLst/>
                <a:latin typeface="Arial" panose="020B0604020202020204" pitchFamily="34" charset="0"/>
              </a:rPr>
              <a:t>Visualization &amp; Export:</a:t>
            </a:r>
            <a:r>
              <a:rPr kumimoji="0" lang="en-US" altLang="en-US" sz="2000" b="0" i="0" u="none" strike="noStrike" cap="none" normalizeH="0" baseline="0" dirty="0">
                <a:ln>
                  <a:noFill/>
                </a:ln>
                <a:solidFill>
                  <a:schemeClr val="bg1"/>
                </a:solidFill>
                <a:effectLst/>
                <a:latin typeface="Arial" panose="020B0604020202020204" pitchFamily="34" charset="0"/>
              </a:rPr>
              <a:t> All plots are generated using data from the </a:t>
            </a:r>
            <a:r>
              <a:rPr kumimoji="0" lang="en-US" altLang="en-US" sz="2000" b="1" i="0" u="none" strike="noStrike" cap="none" normalizeH="0" baseline="0" dirty="0">
                <a:ln>
                  <a:noFill/>
                </a:ln>
                <a:solidFill>
                  <a:schemeClr val="bg1"/>
                </a:solidFill>
                <a:effectLst/>
                <a:latin typeface="Arial" panose="020B0604020202020204" pitchFamily="34" charset="0"/>
              </a:rPr>
              <a:t>view DataFrame</a:t>
            </a:r>
            <a:r>
              <a:rPr kumimoji="0" lang="en-US" altLang="en-US" sz="2000" b="0" i="0" u="none" strike="noStrike" cap="none" normalizeH="0" baseline="0" dirty="0">
                <a:ln>
                  <a:noFill/>
                </a:ln>
                <a:solidFill>
                  <a:schemeClr val="bg1"/>
                </a:solidFill>
                <a:effectLst/>
                <a:latin typeface="Arial" panose="020B0604020202020204" pitchFamily="34" charset="0"/>
              </a:rPr>
              <a:t>, so they always reflect the current filters. Users can export either the cleaned </a:t>
            </a:r>
            <a:r>
              <a:rPr kumimoji="0" lang="en-US" altLang="en-US" sz="2000" b="1" i="0" u="none" strike="noStrike" cap="none" normalizeH="0" baseline="0" dirty="0">
                <a:ln>
                  <a:noFill/>
                </a:ln>
                <a:solidFill>
                  <a:schemeClr val="bg1"/>
                </a:solidFill>
                <a:effectLst/>
                <a:latin typeface="Arial" panose="020B0604020202020204" pitchFamily="34" charset="0"/>
              </a:rPr>
              <a:t>master DataFrame</a:t>
            </a:r>
            <a:r>
              <a:rPr kumimoji="0" lang="en-US" altLang="en-US" sz="2000" b="0" i="0" u="none" strike="noStrike" cap="none" normalizeH="0" baseline="0" dirty="0">
                <a:ln>
                  <a:noFill/>
                </a:ln>
                <a:solidFill>
                  <a:schemeClr val="bg1"/>
                </a:solidFill>
                <a:effectLst/>
                <a:latin typeface="Arial" panose="020B0604020202020204" pitchFamily="34" charset="0"/>
              </a:rPr>
              <a:t>, the filtered </a:t>
            </a:r>
            <a:r>
              <a:rPr kumimoji="0" lang="en-US" altLang="en-US" sz="2000" b="1" i="0" u="none" strike="noStrike" cap="none" normalizeH="0" baseline="0" dirty="0">
                <a:ln>
                  <a:noFill/>
                </a:ln>
                <a:solidFill>
                  <a:schemeClr val="bg1"/>
                </a:solidFill>
                <a:effectLst/>
                <a:latin typeface="Arial" panose="020B0604020202020204" pitchFamily="34" charset="0"/>
              </a:rPr>
              <a:t>view DataFrame</a:t>
            </a:r>
            <a:r>
              <a:rPr kumimoji="0" lang="en-US" altLang="en-US" sz="2000" b="0" i="0" u="none" strike="noStrike" cap="none" normalizeH="0" baseline="0" dirty="0">
                <a:ln>
                  <a:noFill/>
                </a:ln>
                <a:solidFill>
                  <a:schemeClr val="bg1"/>
                </a:solidFill>
                <a:effectLst/>
                <a:latin typeface="Arial" panose="020B0604020202020204" pitchFamily="34" charset="0"/>
              </a:rPr>
              <a:t>, or the generated chart to a file.</a:t>
            </a:r>
          </a:p>
        </p:txBody>
      </p:sp>
    </p:spTree>
    <p:extLst>
      <p:ext uri="{BB962C8B-B14F-4D97-AF65-F5344CB8AC3E}">
        <p14:creationId xmlns:p14="http://schemas.microsoft.com/office/powerpoint/2010/main" val="362649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1249680" y="194096"/>
            <a:ext cx="9692640" cy="1371600"/>
          </a:xfrm>
        </p:spPr>
        <p:txBody>
          <a:bodyPr/>
          <a:lstStyle/>
          <a:p>
            <a:pPr lvl="0" algn="ctr" eaLnBrk="0" fontAlgn="base" hangingPunct="0">
              <a:lnSpc>
                <a:spcPct val="100000"/>
              </a:lnSpc>
              <a:spcAft>
                <a:spcPct val="0"/>
              </a:spcAft>
            </a:pPr>
            <a:r>
              <a:rPr lang="en-US" altLang="en-US" sz="6000" b="0" dirty="0">
                <a:latin typeface="Arial Rounded MT Bold" panose="020F0704030504030204" pitchFamily="34" charset="0"/>
                <a:cs typeface="Times New Roman" panose="02020603050405020304" pitchFamily="18" charset="0"/>
              </a:rPr>
              <a:t>Expected Outcomes </a:t>
            </a:r>
          </a:p>
        </p:txBody>
      </p:sp>
      <p:sp>
        <p:nvSpPr>
          <p:cNvPr id="12" name="TextBox 11">
            <a:extLst>
              <a:ext uri="{FF2B5EF4-FFF2-40B4-BE49-F238E27FC236}">
                <a16:creationId xmlns:a16="http://schemas.microsoft.com/office/drawing/2014/main" id="{C7A8B68E-975C-51A6-DE63-5DC674CAD904}"/>
              </a:ext>
            </a:extLst>
          </p:cNvPr>
          <p:cNvSpPr txBox="1"/>
          <p:nvPr/>
        </p:nvSpPr>
        <p:spPr>
          <a:xfrm>
            <a:off x="2329909" y="7653664"/>
            <a:ext cx="4971611" cy="7537674"/>
          </a:xfrm>
          <a:prstGeom prst="rect">
            <a:avLst/>
          </a:prstGeom>
          <a:noFill/>
        </p:spPr>
        <p:txBody>
          <a:bodyPr wrap="square" rtlCol="0">
            <a:spAutoFit/>
          </a:bodyPr>
          <a:lstStyle/>
          <a:p>
            <a:endParaRPr lang="en-IN" dirty="0"/>
          </a:p>
        </p:txBody>
      </p:sp>
      <p:sp>
        <p:nvSpPr>
          <p:cNvPr id="13" name="Rectangle 2">
            <a:extLst>
              <a:ext uri="{FF2B5EF4-FFF2-40B4-BE49-F238E27FC236}">
                <a16:creationId xmlns:a16="http://schemas.microsoft.com/office/drawing/2014/main" id="{CA7405AB-E799-B207-8296-AA7845285F08}"/>
              </a:ext>
            </a:extLst>
          </p:cNvPr>
          <p:cNvSpPr>
            <a:spLocks noChangeArrowheads="1"/>
          </p:cNvSpPr>
          <p:nvPr/>
        </p:nvSpPr>
        <p:spPr bwMode="auto">
          <a:xfrm>
            <a:off x="394995" y="1777739"/>
            <a:ext cx="11635639"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1B1C1D"/>
                </a:solidFill>
                <a:effectLst/>
                <a:latin typeface="Arial Rounded MT Bold" panose="020F0704030504030204" pitchFamily="34" charset="0"/>
              </a:rPr>
              <a:t>This project is expected to deliver a fully functional, user-friendly desktop application that simplifies data analysis. The key outcomes include: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1B1C1D"/>
              </a:solidFill>
              <a:effectLst/>
              <a:latin typeface="Arial Rounded MT Bold" panose="020F07040305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rgbClr val="1B1C1D"/>
                </a:solidFill>
                <a:effectLst/>
                <a:latin typeface="Arial Rounded MT Bold" panose="020F0704030504030204" pitchFamily="34" charset="0"/>
              </a:rPr>
              <a:t>Seamless Data Workflow:</a:t>
            </a:r>
            <a:r>
              <a:rPr kumimoji="0" lang="en-US" altLang="en-US" sz="2200" b="0" i="0" u="none" strike="noStrike" cap="none" normalizeH="0" baseline="0" dirty="0">
                <a:ln>
                  <a:noFill/>
                </a:ln>
                <a:solidFill>
                  <a:srgbClr val="1B1C1D"/>
                </a:solidFill>
                <a:effectLst/>
                <a:latin typeface="Arial Rounded MT Bold" panose="020F0704030504030204" pitchFamily="34" charset="0"/>
              </a:rPr>
              <a:t> A user will be able to load CSV/Excel files, clean and filter the data using intuitive tools, and generate a variety of charts without writing any code.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rgbClr val="1B1C1D"/>
                </a:solidFill>
                <a:effectLst/>
                <a:latin typeface="Arial Rounded MT Bold" panose="020F0704030504030204" pitchFamily="34" charset="0"/>
              </a:rPr>
              <a:t>Accurate Insights:</a:t>
            </a:r>
            <a:r>
              <a:rPr kumimoji="0" lang="en-US" altLang="en-US" sz="2200" b="0" i="0" u="none" strike="noStrike" cap="none" normalizeH="0" baseline="0" dirty="0">
                <a:ln>
                  <a:noFill/>
                </a:ln>
                <a:solidFill>
                  <a:srgbClr val="1B1C1D"/>
                </a:solidFill>
                <a:effectLst/>
                <a:latin typeface="Arial Rounded MT Bold" panose="020F0704030504030204" pitchFamily="34" charset="0"/>
              </a:rPr>
              <a:t> The application will provide reliable data overviews and visualizations, empowering users to make better-informed decisions based on clean, validated data.</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rgbClr val="1B1C1D"/>
                </a:solidFill>
                <a:effectLst/>
                <a:latin typeface="Arial Rounded MT Bold" panose="020F0704030504030204" pitchFamily="34" charset="0"/>
              </a:rPr>
              <a:t>Accessible Tooling:</a:t>
            </a:r>
            <a:r>
              <a:rPr kumimoji="0" lang="en-US" altLang="en-US" sz="2200" b="0" i="0" u="none" strike="noStrike" cap="none" normalizeH="0" baseline="0" dirty="0">
                <a:ln>
                  <a:noFill/>
                </a:ln>
                <a:solidFill>
                  <a:srgbClr val="1B1C1D"/>
                </a:solidFill>
                <a:effectLst/>
                <a:latin typeface="Arial Rounded MT Bold" panose="020F0704030504030204" pitchFamily="34" charset="0"/>
              </a:rPr>
              <a:t> The project will make powerful data manipulation and visualization capabilities, typically found in programming environments, accessible to a wider audience, including those without a technical background.</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rgbClr val="1B1C1D"/>
                </a:solidFill>
                <a:effectLst/>
                <a:latin typeface="Arial Rounded MT Bold" panose="020F0704030504030204" pitchFamily="34" charset="0"/>
              </a:rPr>
              <a:t>Flexible Exports:</a:t>
            </a:r>
            <a:r>
              <a:rPr kumimoji="0" lang="en-US" altLang="en-US" sz="2200" b="0" i="0" u="none" strike="noStrike" cap="none" normalizeH="0" baseline="0" dirty="0">
                <a:ln>
                  <a:noFill/>
                </a:ln>
                <a:solidFill>
                  <a:srgbClr val="1B1C1D"/>
                </a:solidFill>
                <a:effectLst/>
                <a:latin typeface="Arial Rounded MT Bold" panose="020F0704030504030204" pitchFamily="34" charset="0"/>
              </a:rPr>
              <a:t> Users will be able to easily save their cleaned data, filtered views, and generated charts for use in other reports or applications.</a:t>
            </a:r>
          </a:p>
        </p:txBody>
      </p:sp>
    </p:spTree>
    <p:extLst>
      <p:ext uri="{BB962C8B-B14F-4D97-AF65-F5344CB8AC3E}">
        <p14:creationId xmlns:p14="http://schemas.microsoft.com/office/powerpoint/2010/main" val="907915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786E-306F-FA21-4F87-81A032C68696}"/>
              </a:ext>
            </a:extLst>
          </p:cNvPr>
          <p:cNvSpPr>
            <a:spLocks noGrp="1"/>
          </p:cNvSpPr>
          <p:nvPr>
            <p:ph type="title"/>
          </p:nvPr>
        </p:nvSpPr>
        <p:spPr>
          <a:xfrm>
            <a:off x="421341" y="-2086722"/>
            <a:ext cx="10623178" cy="3261097"/>
          </a:xfrm>
        </p:spPr>
        <p:txBody>
          <a:bodyPr/>
          <a:lstStyle/>
          <a:p>
            <a:pPr lvl="0" algn="ctr" eaLnBrk="0" fontAlgn="base" hangingPunct="0">
              <a:lnSpc>
                <a:spcPct val="100000"/>
              </a:lnSpc>
              <a:spcAft>
                <a:spcPct val="0"/>
              </a:spcAft>
            </a:pPr>
            <a:r>
              <a:rPr lang="en-US" altLang="en-US" sz="6000" b="0" dirty="0">
                <a:latin typeface="Arial Rounded MT Bold" panose="020F0704030504030204" pitchFamily="34"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3B13BC0E-AB2C-2478-BCE2-5E1BC190814F}"/>
              </a:ext>
            </a:extLst>
          </p:cNvPr>
          <p:cNvSpPr txBox="1"/>
          <p:nvPr/>
        </p:nvSpPr>
        <p:spPr>
          <a:xfrm>
            <a:off x="564778" y="1766046"/>
            <a:ext cx="10703858" cy="2677656"/>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Arial Rounded MT Bold" panose="020F0704030504030204" pitchFamily="34" charset="0"/>
              </a:rPr>
              <a:t>The project successfully delivers a functional data analysis application by integrating </a:t>
            </a:r>
            <a:r>
              <a:rPr lang="en-US" sz="2400" b="1" dirty="0">
                <a:latin typeface="Arial Rounded MT Bold" panose="020F0704030504030204" pitchFamily="34" charset="0"/>
              </a:rPr>
              <a:t>CustomTkinter</a:t>
            </a:r>
            <a:r>
              <a:rPr lang="en-US" sz="2400" dirty="0">
                <a:latin typeface="Arial Rounded MT Bold" panose="020F0704030504030204" pitchFamily="34" charset="0"/>
              </a:rPr>
              <a:t>, </a:t>
            </a:r>
            <a:r>
              <a:rPr lang="en-US" sz="2400" b="1" dirty="0">
                <a:latin typeface="Arial Rounded MT Bold" panose="020F0704030504030204" pitchFamily="34" charset="0"/>
              </a:rPr>
              <a:t>Pandas</a:t>
            </a:r>
            <a:r>
              <a:rPr lang="en-US" sz="2400" dirty="0">
                <a:latin typeface="Arial Rounded MT Bold" panose="020F0704030504030204" pitchFamily="34" charset="0"/>
              </a:rPr>
              <a:t>, and </a:t>
            </a:r>
            <a:r>
              <a:rPr lang="en-US" sz="2400" b="1" dirty="0">
                <a:latin typeface="Arial Rounded MT Bold" panose="020F0704030504030204" pitchFamily="34" charset="0"/>
              </a:rPr>
              <a:t>Matplotlib</a:t>
            </a:r>
            <a:r>
              <a:rPr lang="en-US" sz="2400" dirty="0">
                <a:latin typeface="Arial Rounded MT Bold" panose="020F0704030504030204" pitchFamily="34" charset="0"/>
              </a:rPr>
              <a:t>. It provides a complete, user-friendly workflow for loading, cleaning, filtering, and visualizing data. </a:t>
            </a:r>
          </a:p>
          <a:p>
            <a:pPr marL="342900" indent="-342900" algn="just">
              <a:buFont typeface="Wingdings" panose="05000000000000000000" pitchFamily="2" charset="2"/>
              <a:buChar char="Ø"/>
            </a:pPr>
            <a:r>
              <a:rPr lang="en-US" sz="2400" dirty="0">
                <a:latin typeface="Arial Rounded MT Bold" panose="020F0704030504030204" pitchFamily="34" charset="0"/>
              </a:rPr>
              <a:t>By making complex data operations accessible through a simple GUI, the application democratizes data analysis, demonstrating a strong grasp of Python's data ecosystem.</a:t>
            </a:r>
            <a:endParaRPr lang="en-IN" sz="2400" dirty="0">
              <a:latin typeface="Arial Rounded MT Bold" panose="020F0704030504030204" pitchFamily="34" charset="0"/>
            </a:endParaRPr>
          </a:p>
        </p:txBody>
      </p:sp>
    </p:spTree>
    <p:extLst>
      <p:ext uri="{BB962C8B-B14F-4D97-AF65-F5344CB8AC3E}">
        <p14:creationId xmlns:p14="http://schemas.microsoft.com/office/powerpoint/2010/main" val="167816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C9C1-89CA-5244-A322-4D1377B2E7FF}"/>
              </a:ext>
            </a:extLst>
          </p:cNvPr>
          <p:cNvSpPr>
            <a:spLocks noGrp="1"/>
          </p:cNvSpPr>
          <p:nvPr>
            <p:ph type="title"/>
          </p:nvPr>
        </p:nvSpPr>
        <p:spPr>
          <a:xfrm>
            <a:off x="548927" y="-652368"/>
            <a:ext cx="9601200" cy="1653371"/>
          </a:xfrm>
        </p:spPr>
        <p:txBody>
          <a:bodyPr/>
          <a:lstStyle/>
          <a:p>
            <a:pPr algn="ctr"/>
            <a:r>
              <a:rPr lang="en-IN" sz="6000" dirty="0">
                <a:latin typeface="Arial Rounded MT Bold" panose="020F0704030504030204" pitchFamily="34" charset="0"/>
              </a:rPr>
              <a:t>Future Scope</a:t>
            </a:r>
          </a:p>
        </p:txBody>
      </p:sp>
      <p:sp>
        <p:nvSpPr>
          <p:cNvPr id="7" name="Rectangle 2">
            <a:extLst>
              <a:ext uri="{FF2B5EF4-FFF2-40B4-BE49-F238E27FC236}">
                <a16:creationId xmlns:a16="http://schemas.microsoft.com/office/drawing/2014/main" id="{B5C4F3D1-1914-C718-0C72-8054B6B05AAE}"/>
              </a:ext>
            </a:extLst>
          </p:cNvPr>
          <p:cNvSpPr>
            <a:spLocks noChangeArrowheads="1"/>
          </p:cNvSpPr>
          <p:nvPr/>
        </p:nvSpPr>
        <p:spPr bwMode="auto">
          <a:xfrm>
            <a:off x="188258" y="1207756"/>
            <a:ext cx="635597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Rounded MT Bold" panose="020F0704030504030204" pitchFamily="34" charset="0"/>
              </a:rPr>
              <a:t>Advanced Data Cleaning: Integrate sophisticated imputation methods and features for categorical encoding and data scaling.</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Rounded MT Bold" panose="020F0704030504030204" pitchFamily="34" charset="0"/>
              </a:rPr>
              <a:t>Enhanced Visualization: Add interactive plots, a wider range of chart types, and more customization options.</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Arial Rounded MT Bold" panose="020F0704030504030204" pitchFamily="34" charset="0"/>
              </a:rPr>
              <a:t>Automated Insights: AI will automatically find patterns and anomalies, generating natural language summaries.</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Arial Rounded MT Bold" panose="020F0704030504030204" pitchFamily="34" charset="0"/>
              </a:rPr>
              <a:t>Intelligent Automation: AI will automate tasks like chart selection and data cleaning for greater efficiency.</a:t>
            </a:r>
          </a:p>
        </p:txBody>
      </p:sp>
      <p:pic>
        <p:nvPicPr>
          <p:cNvPr id="10" name="Picture 9">
            <a:extLst>
              <a:ext uri="{FF2B5EF4-FFF2-40B4-BE49-F238E27FC236}">
                <a16:creationId xmlns:a16="http://schemas.microsoft.com/office/drawing/2014/main" id="{D91FDA2D-F45F-5421-2451-CDD8C63E8743}"/>
              </a:ext>
            </a:extLst>
          </p:cNvPr>
          <p:cNvPicPr>
            <a:picLocks noChangeAspect="1"/>
          </p:cNvPicPr>
          <p:nvPr/>
        </p:nvPicPr>
        <p:blipFill>
          <a:blip r:embed="rId2"/>
          <a:srcRect l="54705" t="20915" r="7255" b="53202"/>
          <a:stretch>
            <a:fillRect/>
          </a:stretch>
        </p:blipFill>
        <p:spPr>
          <a:xfrm>
            <a:off x="6544234" y="1207756"/>
            <a:ext cx="4805084" cy="3269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7283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A38BF61-9BB2-8D4E-DF21-909771C6AB9F}"/>
              </a:ext>
            </a:extLst>
          </p:cNvPr>
          <p:cNvSpPr txBox="1"/>
          <p:nvPr/>
        </p:nvSpPr>
        <p:spPr>
          <a:xfrm>
            <a:off x="2241177" y="394447"/>
            <a:ext cx="7449670" cy="1015663"/>
          </a:xfrm>
          <a:prstGeom prst="rect">
            <a:avLst/>
          </a:prstGeom>
          <a:noFill/>
        </p:spPr>
        <p:txBody>
          <a:bodyPr wrap="square" rtlCol="0">
            <a:spAutoFit/>
          </a:bodyPr>
          <a:lstStyle/>
          <a:p>
            <a:pPr algn="ctr"/>
            <a:r>
              <a:rPr lang="en-US" altLang="en-US" sz="6000" dirty="0">
                <a:latin typeface="Arial Rounded MT Bold" panose="020F0704030504030204" pitchFamily="34" charset="0"/>
                <a:cs typeface="Times New Roman" panose="02020603050405020304" pitchFamily="18" charset="0"/>
              </a:rPr>
              <a:t>References</a:t>
            </a:r>
            <a:endParaRPr lang="en-IN" sz="6000" dirty="0">
              <a:latin typeface="Arial Rounded MT Bold" panose="020F0704030504030204" pitchFamily="34" charset="0"/>
            </a:endParaRPr>
          </a:p>
        </p:txBody>
      </p:sp>
      <p:sp>
        <p:nvSpPr>
          <p:cNvPr id="15" name="TextBox 14">
            <a:extLst>
              <a:ext uri="{FF2B5EF4-FFF2-40B4-BE49-F238E27FC236}">
                <a16:creationId xmlns:a16="http://schemas.microsoft.com/office/drawing/2014/main" id="{669CFD50-3E97-B6A6-6BE6-D9D59C0D898F}"/>
              </a:ext>
            </a:extLst>
          </p:cNvPr>
          <p:cNvSpPr txBox="1"/>
          <p:nvPr/>
        </p:nvSpPr>
        <p:spPr>
          <a:xfrm>
            <a:off x="954740" y="1720840"/>
            <a:ext cx="10304931" cy="4247317"/>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Arial Rounded MT Bold" panose="020F0704030504030204" pitchFamily="34" charset="0"/>
              </a:rPr>
              <a:t>Book References:</a:t>
            </a:r>
            <a:endParaRPr lang="en-IN" sz="2400" u="sng" dirty="0">
              <a:latin typeface="Arial Rounded MT Bold" panose="020F0704030504030204" pitchFamily="34" charset="0"/>
            </a:endParaRPr>
          </a:p>
          <a:p>
            <a:pPr marL="1257300" lvl="2" indent="-342900">
              <a:buFont typeface="Arial" panose="020B0604020202020204" pitchFamily="34" charset="0"/>
              <a:buChar char="•"/>
            </a:pPr>
            <a:r>
              <a:rPr lang="en-IN" sz="2200" dirty="0">
                <a:latin typeface="Arial Rounded MT Bold" panose="020F0704030504030204" pitchFamily="34" charset="0"/>
              </a:rPr>
              <a:t>"Python for Data Analysis" by Wes McKinney.</a:t>
            </a:r>
          </a:p>
          <a:p>
            <a:pPr marL="1257300" lvl="2" indent="-342900">
              <a:buFont typeface="Arial" panose="020B0604020202020204" pitchFamily="34" charset="0"/>
              <a:buChar char="•"/>
            </a:pPr>
            <a:r>
              <a:rPr lang="en-IN" sz="2200" dirty="0">
                <a:latin typeface="Arial Rounded MT Bold" panose="020F0704030504030204" pitchFamily="34" charset="0"/>
              </a:rPr>
              <a:t>"Hands-On Data Analysis with Pandas" by Stefanie Molin.</a:t>
            </a:r>
          </a:p>
          <a:p>
            <a:endParaRPr lang="en-IN" sz="2400" dirty="0">
              <a:latin typeface="Arial Rounded MT Bold" panose="020F0704030504030204" pitchFamily="34" charset="0"/>
            </a:endParaRPr>
          </a:p>
          <a:p>
            <a:pPr marL="342900" indent="-342900">
              <a:buFont typeface="Wingdings" panose="05000000000000000000" pitchFamily="2" charset="2"/>
              <a:buChar char="Ø"/>
            </a:pPr>
            <a:r>
              <a:rPr lang="en-IN" sz="2400" b="1" u="sng" dirty="0">
                <a:latin typeface="Arial Rounded MT Bold" panose="020F0704030504030204" pitchFamily="34" charset="0"/>
              </a:rPr>
              <a:t>Website References:</a:t>
            </a:r>
            <a:endParaRPr lang="en-IN" sz="2400" u="sng" dirty="0">
              <a:latin typeface="Arial Rounded MT Bold" panose="020F0704030504030204" pitchFamily="34" charset="0"/>
            </a:endParaRPr>
          </a:p>
          <a:p>
            <a:pPr marL="1257300" lvl="2" indent="-342900">
              <a:buFont typeface="Arial" panose="020B0604020202020204" pitchFamily="34" charset="0"/>
              <a:buChar char="•"/>
            </a:pPr>
            <a:r>
              <a:rPr lang="en-IN" sz="2200" b="1" dirty="0">
                <a:latin typeface="Arial Rounded MT Bold" panose="020F0704030504030204" pitchFamily="34" charset="0"/>
              </a:rPr>
              <a:t> Pandas</a:t>
            </a:r>
            <a:r>
              <a:rPr lang="en-IN" sz="2200" dirty="0">
                <a:latin typeface="Arial Rounded MT Bold" panose="020F0704030504030204" pitchFamily="34" charset="0"/>
              </a:rPr>
              <a:t> Official Documentation: </a:t>
            </a:r>
            <a:r>
              <a:rPr lang="en-IN" sz="2200" dirty="0">
                <a:latin typeface="Arial Rounded MT Bold" panose="020F0704030504030204" pitchFamily="34" charset="0"/>
                <a:hlinkClick r:id="rId3"/>
              </a:rPr>
              <a:t>https://pandas.pydata.org/docs/</a:t>
            </a:r>
            <a:endParaRPr lang="en-IN" sz="2200" dirty="0">
              <a:latin typeface="Arial Rounded MT Bold" panose="020F0704030504030204" pitchFamily="34" charset="0"/>
            </a:endParaRPr>
          </a:p>
          <a:p>
            <a:endParaRPr lang="en-IN" sz="2200" dirty="0">
              <a:latin typeface="Arial Rounded MT Bold" panose="020F0704030504030204" pitchFamily="34" charset="0"/>
            </a:endParaRPr>
          </a:p>
          <a:p>
            <a:pPr marL="1257300" lvl="2" indent="-342900">
              <a:buFont typeface="Arial" panose="020B0604020202020204" pitchFamily="34" charset="0"/>
              <a:buChar char="•"/>
            </a:pPr>
            <a:r>
              <a:rPr lang="en-IN" sz="2200" b="1" dirty="0">
                <a:latin typeface="Arial Rounded MT Bold" panose="020F0704030504030204" pitchFamily="34" charset="0"/>
              </a:rPr>
              <a:t> Matplotlib</a:t>
            </a:r>
            <a:r>
              <a:rPr lang="en-IN" sz="2200" dirty="0">
                <a:latin typeface="Arial Rounded MT Bold" panose="020F0704030504030204" pitchFamily="34" charset="0"/>
              </a:rPr>
              <a:t> Official Documentation: </a:t>
            </a:r>
            <a:r>
              <a:rPr lang="en-IN" sz="2200" dirty="0">
                <a:latin typeface="Arial Rounded MT Bold" panose="020F0704030504030204" pitchFamily="34" charset="0"/>
                <a:hlinkClick r:id="rId4"/>
              </a:rPr>
              <a:t>https://matplotlib.org/</a:t>
            </a:r>
            <a:endParaRPr lang="en-IN" sz="2200" dirty="0">
              <a:latin typeface="Arial Rounded MT Bold" panose="020F0704030504030204" pitchFamily="34" charset="0"/>
            </a:endParaRPr>
          </a:p>
          <a:p>
            <a:endParaRPr lang="en-IN" sz="2200" dirty="0">
              <a:latin typeface="Arial Rounded MT Bold" panose="020F0704030504030204" pitchFamily="34" charset="0"/>
            </a:endParaRPr>
          </a:p>
          <a:p>
            <a:pPr marL="1257300" lvl="2" indent="-342900">
              <a:buFont typeface="Arial" panose="020B0604020202020204" pitchFamily="34" charset="0"/>
              <a:buChar char="•"/>
            </a:pPr>
            <a:r>
              <a:rPr lang="en-IN" sz="2200" b="1" dirty="0">
                <a:latin typeface="Arial Rounded MT Bold" panose="020F0704030504030204" pitchFamily="34" charset="0"/>
              </a:rPr>
              <a:t> </a:t>
            </a:r>
            <a:r>
              <a:rPr lang="en-IN" sz="2200" b="1" dirty="0" err="1">
                <a:latin typeface="Arial Rounded MT Bold" panose="020F0704030504030204" pitchFamily="34" charset="0"/>
              </a:rPr>
              <a:t>CustomTkinter</a:t>
            </a:r>
            <a:r>
              <a:rPr lang="en-IN" sz="2200" dirty="0">
                <a:latin typeface="Arial Rounded MT Bold" panose="020F0704030504030204" pitchFamily="34" charset="0"/>
              </a:rPr>
              <a:t> Official Documentation:</a:t>
            </a:r>
          </a:p>
          <a:p>
            <a:r>
              <a:rPr lang="en-IN" sz="2200" dirty="0">
                <a:latin typeface="Arial Rounded MT Bold" panose="020F0704030504030204" pitchFamily="34" charset="0"/>
              </a:rPr>
              <a:t>                   </a:t>
            </a:r>
            <a:r>
              <a:rPr lang="en-IN" sz="2200" dirty="0">
                <a:latin typeface="Arial Rounded MT Bold" panose="020F0704030504030204" pitchFamily="34" charset="0"/>
                <a:hlinkClick r:id="rId5"/>
              </a:rPr>
              <a:t>https://customtkinter.tomschimansky.com/</a:t>
            </a:r>
            <a:endParaRPr lang="en-IN" sz="2200" dirty="0">
              <a:latin typeface="Arial Rounded MT Bold" panose="020F0704030504030204" pitchFamily="34" charset="0"/>
            </a:endParaRPr>
          </a:p>
          <a:p>
            <a:endParaRPr lang="en-IN" sz="2200" dirty="0">
              <a:latin typeface="Arial Rounded MT Bold" panose="020F0704030504030204" pitchFamily="34" charset="0"/>
            </a:endParaRPr>
          </a:p>
        </p:txBody>
      </p:sp>
    </p:spTree>
    <p:extLst>
      <p:ext uri="{BB962C8B-B14F-4D97-AF65-F5344CB8AC3E}">
        <p14:creationId xmlns:p14="http://schemas.microsoft.com/office/powerpoint/2010/main" val="85326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sz="6600" dirty="0">
                <a:latin typeface="Arial Rounded MT Bold" panose="020F0704030504030204" pitchFamily="34" charset="0"/>
              </a:rPr>
              <a:t>Thank you</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5A8381C-73EB-48EA-B45F-7B7C8C7DF40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327</TotalTime>
  <Words>1347</Words>
  <Application>Microsoft Office PowerPoint</Application>
  <PresentationFormat>Widescreen</PresentationFormat>
  <Paragraphs>106</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Rounded MT Bold</vt:lpstr>
      <vt:lpstr>Bricolage Grotesque Bold</vt:lpstr>
      <vt:lpstr>Calibri</vt:lpstr>
      <vt:lpstr>Google Sans Text</vt:lpstr>
      <vt:lpstr>Tenorite</vt:lpstr>
      <vt:lpstr>Wingdings</vt:lpstr>
      <vt:lpstr>Custom</vt:lpstr>
      <vt:lpstr>Modern Data Dashboard</vt:lpstr>
      <vt:lpstr>TABLE OF CONTENTS</vt:lpstr>
      <vt:lpstr>Introduction</vt:lpstr>
      <vt:lpstr>Literature Review  </vt:lpstr>
      <vt:lpstr>Problem Statement  </vt:lpstr>
      <vt:lpstr>Key Technologies Used  </vt:lpstr>
      <vt:lpstr>Objectives</vt:lpstr>
      <vt:lpstr>Proposed Methodology</vt:lpstr>
      <vt:lpstr>Data Flow Diagram</vt:lpstr>
      <vt:lpstr>Proposed Algorithms</vt:lpstr>
      <vt:lpstr>Expected Outcomes </vt:lpstr>
      <vt:lpstr>Conclusion</vt:lpstr>
      <vt:lpstr>Future Scope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Siddharth Sahu</dc:creator>
  <cp:lastModifiedBy>Vatsalya Sahu</cp:lastModifiedBy>
  <cp:revision>8</cp:revision>
  <dcterms:created xsi:type="dcterms:W3CDTF">2025-09-17T14:03:59Z</dcterms:created>
  <dcterms:modified xsi:type="dcterms:W3CDTF">2026-07-08T10:47:09Z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